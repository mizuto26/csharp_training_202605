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7"/>
  </p:notesMasterIdLst>
  <p:sldIdLst>
    <p:sldId id="256" r:id="rId5"/>
    <p:sldId id="263" r:id="rId6"/>
    <p:sldId id="258" r:id="rId7"/>
    <p:sldId id="259" r:id="rId8"/>
    <p:sldId id="260" r:id="rId9"/>
    <p:sldId id="261" r:id="rId10"/>
    <p:sldId id="264" r:id="rId11"/>
    <p:sldId id="262" r:id="rId12"/>
    <p:sldId id="275" r:id="rId13"/>
    <p:sldId id="276" r:id="rId14"/>
    <p:sldId id="277" r:id="rId15"/>
    <p:sldId id="278" r:id="rId16"/>
    <p:sldId id="279" r:id="rId17"/>
    <p:sldId id="280" r:id="rId18"/>
    <p:sldId id="281" r:id="rId19"/>
    <p:sldId id="265" r:id="rId20"/>
    <p:sldId id="282" r:id="rId21"/>
    <p:sldId id="270" r:id="rId22"/>
    <p:sldId id="268" r:id="rId23"/>
    <p:sldId id="271" r:id="rId24"/>
    <p:sldId id="266" r:id="rId25"/>
    <p:sldId id="273"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309" autoAdjust="0"/>
    <p:restoredTop sz="92023" autoAdjust="0"/>
  </p:normalViewPr>
  <p:slideViewPr>
    <p:cSldViewPr snapToGrid="0">
      <p:cViewPr varScale="1">
        <p:scale>
          <a:sx n="58" d="100"/>
          <a:sy n="58" d="100"/>
        </p:scale>
        <p:origin x="70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470576-8D87-425D-896A-F5ADE651A19E}" type="datetimeFigureOut">
              <a:rPr kumimoji="1" lang="ja-JP" altLang="en-US" smtClean="0"/>
              <a:t>2026/5/28</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4E1843-6981-4AE1-8CFE-93C058D5281C}" type="slidenum">
              <a:rPr kumimoji="1" lang="ja-JP" altLang="en-US" smtClean="0"/>
              <a:t>‹#›</a:t>
            </a:fld>
            <a:endParaRPr kumimoji="1" lang="ja-JP" altLang="en-US"/>
          </a:p>
        </p:txBody>
      </p:sp>
    </p:spTree>
    <p:extLst>
      <p:ext uri="{BB962C8B-B14F-4D97-AF65-F5344CB8AC3E}">
        <p14:creationId xmlns:p14="http://schemas.microsoft.com/office/powerpoint/2010/main" val="240863478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9D4E1843-6981-4AE1-8CFE-93C058D5281C}" type="slidenum">
              <a:rPr kumimoji="1" lang="ja-JP" altLang="en-US" smtClean="0"/>
              <a:t>3</a:t>
            </a:fld>
            <a:endParaRPr kumimoji="1" lang="ja-JP" altLang="en-US"/>
          </a:p>
        </p:txBody>
      </p:sp>
    </p:spTree>
    <p:extLst>
      <p:ext uri="{BB962C8B-B14F-4D97-AF65-F5344CB8AC3E}">
        <p14:creationId xmlns:p14="http://schemas.microsoft.com/office/powerpoint/2010/main" val="7904667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9D4E1843-6981-4AE1-8CFE-93C058D5281C}" type="slidenum">
              <a:rPr kumimoji="1" lang="ja-JP" altLang="en-US" smtClean="0"/>
              <a:t>15</a:t>
            </a:fld>
            <a:endParaRPr kumimoji="1" lang="ja-JP" altLang="en-US"/>
          </a:p>
        </p:txBody>
      </p:sp>
    </p:spTree>
    <p:extLst>
      <p:ext uri="{BB962C8B-B14F-4D97-AF65-F5344CB8AC3E}">
        <p14:creationId xmlns:p14="http://schemas.microsoft.com/office/powerpoint/2010/main" val="12239763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4530"/>
            <a:ext cx="9144000" cy="2387600"/>
          </a:xfrm>
        </p:spPr>
        <p:txBody>
          <a:bodyPr anchor="b">
            <a:normAutofit/>
          </a:bodyPr>
          <a:lstStyle>
            <a:lvl1pPr algn="ctr">
              <a:defRPr sz="6000"/>
            </a:lvl1pPr>
          </a:lstStyle>
          <a:p>
            <a:r>
              <a:rPr lang="ja-JP" altLang="en-US"/>
              <a:t>マスター タイトルの書式設定</a:t>
            </a:r>
            <a:endParaRPr lang="en-US" dirty="0"/>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2400">
                <a:solidFill>
                  <a:schemeClr val="tx1">
                    <a:lumMod val="75000"/>
                    <a:lumOff val="25000"/>
                  </a:schemeClr>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98D100FA-5EDA-4200-8693-934184B2464A}" type="datetimeFigureOut">
              <a:rPr kumimoji="1" lang="ja-JP" altLang="en-US" smtClean="0"/>
              <a:t>2026/5/28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9D233DE4-AE46-48B2-8054-5FEA11778163}" type="slidenum">
              <a:rPr kumimoji="1" lang="ja-JP" altLang="en-US" smtClean="0"/>
              <a:t>‹#›</a:t>
            </a:fld>
            <a:endParaRPr kumimoji="1" lang="ja-JP" altLang="en-US"/>
          </a:p>
        </p:txBody>
      </p:sp>
    </p:spTree>
    <p:extLst>
      <p:ext uri="{BB962C8B-B14F-4D97-AF65-F5344CB8AC3E}">
        <p14:creationId xmlns:p14="http://schemas.microsoft.com/office/powerpoint/2010/main" val="7722084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98D100FA-5EDA-4200-8693-934184B2464A}" type="datetimeFigureOut">
              <a:rPr kumimoji="1" lang="ja-JP" altLang="en-US" smtClean="0"/>
              <a:t>2026/5/28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9D233DE4-AE46-48B2-8054-5FEA11778163}" type="slidenum">
              <a:rPr kumimoji="1" lang="ja-JP" altLang="en-US" smtClean="0"/>
              <a:t>‹#›</a:t>
            </a:fld>
            <a:endParaRPr kumimoji="1" lang="ja-JP" altLang="en-US"/>
          </a:p>
        </p:txBody>
      </p:sp>
    </p:spTree>
    <p:extLst>
      <p:ext uri="{BB962C8B-B14F-4D97-AF65-F5344CB8AC3E}">
        <p14:creationId xmlns:p14="http://schemas.microsoft.com/office/powerpoint/2010/main" val="17396130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831850" y="1712423"/>
            <a:ext cx="10515600" cy="2851208"/>
          </a:xfrm>
        </p:spPr>
        <p:txBody>
          <a:bodyPr anchor="b">
            <a:normAutofit/>
          </a:bodyPr>
          <a:lstStyle>
            <a:lvl1pPr>
              <a:defRPr sz="6000" b="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831850" y="4552633"/>
            <a:ext cx="10515600" cy="1500187"/>
          </a:xfrm>
        </p:spPr>
        <p:txBody>
          <a:bodyPr anchor="t">
            <a:normAutofit/>
          </a:bodyPr>
          <a:lstStyle>
            <a:lvl1pPr marL="0" indent="0">
              <a:buNone/>
              <a:defRPr sz="24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98D100FA-5EDA-4200-8693-934184B2464A}" type="datetimeFigureOut">
              <a:rPr kumimoji="1" lang="ja-JP" altLang="en-US" smtClean="0"/>
              <a:t>2026/5/28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9D233DE4-AE46-48B2-8054-5FEA11778163}" type="slidenum">
              <a:rPr kumimoji="1" lang="ja-JP" altLang="en-US" smtClean="0"/>
              <a:t>‹#›</a:t>
            </a:fld>
            <a:endParaRPr kumimoji="1" lang="ja-JP" altLang="en-US"/>
          </a:p>
        </p:txBody>
      </p:sp>
    </p:spTree>
    <p:extLst>
      <p:ext uri="{BB962C8B-B14F-4D97-AF65-F5344CB8AC3E}">
        <p14:creationId xmlns:p14="http://schemas.microsoft.com/office/powerpoint/2010/main" val="37654714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845127" y="1828800"/>
            <a:ext cx="5181600" cy="4351337"/>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172200" y="1828800"/>
            <a:ext cx="5181600" cy="4351337"/>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98D100FA-5EDA-4200-8693-934184B2464A}" type="datetimeFigureOut">
              <a:rPr kumimoji="1" lang="ja-JP" altLang="en-US" smtClean="0"/>
              <a:t>2026/5/28</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9D233DE4-AE46-48B2-8054-5FEA11778163}" type="slidenum">
              <a:rPr kumimoji="1" lang="ja-JP" altLang="en-US" smtClean="0"/>
              <a:t>‹#›</a:t>
            </a:fld>
            <a:endParaRPr kumimoji="1" lang="ja-JP" altLang="en-US"/>
          </a:p>
        </p:txBody>
      </p:sp>
    </p:spTree>
    <p:extLst>
      <p:ext uri="{BB962C8B-B14F-4D97-AF65-F5344CB8AC3E}">
        <p14:creationId xmlns:p14="http://schemas.microsoft.com/office/powerpoint/2010/main" val="12766763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比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45127" y="1681850"/>
            <a:ext cx="5156200" cy="825699"/>
          </a:xfrm>
        </p:spPr>
        <p:txBody>
          <a:bodyPr anchor="b">
            <a:normAutofit/>
          </a:bodyP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845127" y="2507550"/>
            <a:ext cx="5156200" cy="3680525"/>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172200" y="1681851"/>
            <a:ext cx="5181601" cy="825698"/>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172200" y="2507550"/>
            <a:ext cx="5181601" cy="3680525"/>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7" name="Date Placeholder 6"/>
          <p:cNvSpPr>
            <a:spLocks noGrp="1"/>
          </p:cNvSpPr>
          <p:nvPr>
            <p:ph type="dt" sz="half" idx="10"/>
          </p:nvPr>
        </p:nvSpPr>
        <p:spPr/>
        <p:txBody>
          <a:bodyPr/>
          <a:lstStyle/>
          <a:p>
            <a:fld id="{98D100FA-5EDA-4200-8693-934184B2464A}" type="datetimeFigureOut">
              <a:rPr kumimoji="1" lang="ja-JP" altLang="en-US" smtClean="0"/>
              <a:t>2026/5/28</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9D233DE4-AE46-48B2-8054-5FEA11778163}" type="slidenum">
              <a:rPr kumimoji="1" lang="ja-JP" altLang="en-US" smtClean="0"/>
              <a:t>‹#›</a:t>
            </a:fld>
            <a:endParaRPr kumimoji="1" lang="ja-JP" altLang="en-US"/>
          </a:p>
        </p:txBody>
      </p:sp>
      <p:sp>
        <p:nvSpPr>
          <p:cNvPr id="10" name="Title 9"/>
          <p:cNvSpPr>
            <a:spLocks noGrp="1"/>
          </p:cNvSpPr>
          <p:nvPr>
            <p:ph type="title"/>
          </p:nvPr>
        </p:nvSpPr>
        <p:spPr/>
        <p:txBody>
          <a:bodyPr/>
          <a:lstStyle/>
          <a:p>
            <a:r>
              <a:rPr lang="ja-JP" altLang="en-US"/>
              <a:t>マスター タイトルの書式設定</a:t>
            </a:r>
            <a:endParaRPr lang="en-US" dirty="0"/>
          </a:p>
        </p:txBody>
      </p:sp>
    </p:spTree>
    <p:extLst>
      <p:ext uri="{BB962C8B-B14F-4D97-AF65-F5344CB8AC3E}">
        <p14:creationId xmlns:p14="http://schemas.microsoft.com/office/powerpoint/2010/main" val="31380225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タイトルのみ">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98D100FA-5EDA-4200-8693-934184B2464A}" type="datetimeFigureOut">
              <a:rPr kumimoji="1" lang="ja-JP" altLang="en-US" smtClean="0"/>
              <a:t>2026/5/28</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9D233DE4-AE46-48B2-8054-5FEA11778163}" type="slidenum">
              <a:rPr kumimoji="1" lang="ja-JP" altLang="en-US" smtClean="0"/>
              <a:t>‹#›</a:t>
            </a:fld>
            <a:endParaRPr kumimoji="1" lang="ja-JP" altLang="en-US"/>
          </a:p>
        </p:txBody>
      </p:sp>
      <p:sp>
        <p:nvSpPr>
          <p:cNvPr id="6" name="Title 5"/>
          <p:cNvSpPr>
            <a:spLocks noGrp="1"/>
          </p:cNvSpPr>
          <p:nvPr>
            <p:ph type="title"/>
          </p:nvPr>
        </p:nvSpPr>
        <p:spPr/>
        <p:txBody>
          <a:bodyPr/>
          <a:lstStyle/>
          <a:p>
            <a:r>
              <a:rPr lang="ja-JP" altLang="en-US"/>
              <a:t>マスター タイトルの書式設定</a:t>
            </a:r>
            <a:endParaRPr lang="en-US"/>
          </a:p>
        </p:txBody>
      </p:sp>
    </p:spTree>
    <p:extLst>
      <p:ext uri="{BB962C8B-B14F-4D97-AF65-F5344CB8AC3E}">
        <p14:creationId xmlns:p14="http://schemas.microsoft.com/office/powerpoint/2010/main" val="39858851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8D100FA-5EDA-4200-8693-934184B2464A}" type="datetimeFigureOut">
              <a:rPr kumimoji="1" lang="ja-JP" altLang="en-US" smtClean="0"/>
              <a:t>2026/5/28</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9D233DE4-AE46-48B2-8054-5FEA11778163}" type="slidenum">
              <a:rPr kumimoji="1" lang="ja-JP" altLang="en-US" smtClean="0"/>
              <a:t>‹#›</a:t>
            </a:fld>
            <a:endParaRPr kumimoji="1" lang="ja-JP" altLang="en-US"/>
          </a:p>
        </p:txBody>
      </p:sp>
    </p:spTree>
    <p:extLst>
      <p:ext uri="{BB962C8B-B14F-4D97-AF65-F5344CB8AC3E}">
        <p14:creationId xmlns:p14="http://schemas.microsoft.com/office/powerpoint/2010/main" val="7876434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931920" cy="1600197"/>
          </a:xfrm>
        </p:spPr>
        <p:txBody>
          <a:bodyPr anchor="b">
            <a:normAutofit/>
          </a:bodyPr>
          <a:lstStyle>
            <a:lvl1pPr>
              <a:defRPr sz="3200" b="0"/>
            </a:lvl1pPr>
          </a:lstStyle>
          <a:p>
            <a:r>
              <a:rPr lang="ja-JP" altLang="en-US"/>
              <a:t>マスター タイトルの書式設定</a:t>
            </a:r>
            <a:endParaRPr lang="en-US" dirty="0"/>
          </a:p>
        </p:txBody>
      </p:sp>
      <p:sp>
        <p:nvSpPr>
          <p:cNvPr id="3" name="Content Placeholder 2"/>
          <p:cNvSpPr>
            <a:spLocks noGrp="1"/>
          </p:cNvSpPr>
          <p:nvPr>
            <p:ph idx="1"/>
          </p:nvPr>
        </p:nvSpPr>
        <p:spPr>
          <a:xfrm>
            <a:off x="5181600" y="990600"/>
            <a:ext cx="6172200" cy="4876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841248" y="2057399"/>
            <a:ext cx="3931920" cy="3810001"/>
          </a:xfrm>
        </p:spPr>
        <p:txBody>
          <a:bodyPr>
            <a:normAutofit/>
          </a:bodyPr>
          <a:lstStyle>
            <a:lvl1pPr marL="0" indent="0">
              <a:lnSpc>
                <a:spcPct val="90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98D100FA-5EDA-4200-8693-934184B2464A}" type="datetimeFigureOut">
              <a:rPr kumimoji="1" lang="ja-JP" altLang="en-US" smtClean="0"/>
              <a:t>2026/5/28</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9D233DE4-AE46-48B2-8054-5FEA11778163}" type="slidenum">
              <a:rPr kumimoji="1" lang="ja-JP" altLang="en-US" smtClean="0"/>
              <a:t>‹#›</a:t>
            </a:fld>
            <a:endParaRPr kumimoji="1" lang="ja-JP" altLang="en-US"/>
          </a:p>
        </p:txBody>
      </p:sp>
    </p:spTree>
    <p:extLst>
      <p:ext uri="{BB962C8B-B14F-4D97-AF65-F5344CB8AC3E}">
        <p14:creationId xmlns:p14="http://schemas.microsoft.com/office/powerpoint/2010/main" val="22666899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931920" cy="1600200"/>
          </a:xfrm>
        </p:spPr>
        <p:txBody>
          <a:bodyPr anchor="b">
            <a:normAutofit/>
          </a:bodyPr>
          <a:lstStyle>
            <a:lvl1pPr>
              <a:defRPr sz="3200" b="0"/>
            </a:lvl1pPr>
          </a:lstStyle>
          <a:p>
            <a:r>
              <a:rPr lang="ja-JP" altLang="en-US"/>
              <a:t>マスター タイトルの書式設定</a:t>
            </a:r>
            <a:endParaRPr lang="en-US" dirty="0"/>
          </a:p>
        </p:txBody>
      </p:sp>
      <p:sp>
        <p:nvSpPr>
          <p:cNvPr id="3" name="Picture Placeholder 2"/>
          <p:cNvSpPr>
            <a:spLocks noGrp="1"/>
          </p:cNvSpPr>
          <p:nvPr>
            <p:ph type="pic" idx="1"/>
          </p:nvPr>
        </p:nvSpPr>
        <p:spPr>
          <a:xfrm>
            <a:off x="5181600" y="990600"/>
            <a:ext cx="6172200" cy="4876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841248" y="2057400"/>
            <a:ext cx="3931920" cy="3810000"/>
          </a:xfrm>
        </p:spPr>
        <p:txBody>
          <a:bodyPr>
            <a:normAutofit/>
          </a:bodyPr>
          <a:lstStyle>
            <a:lvl1pPr marL="0" indent="0">
              <a:lnSpc>
                <a:spcPct val="90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98D100FA-5EDA-4200-8693-934184B2464A}" type="datetimeFigureOut">
              <a:rPr kumimoji="1" lang="ja-JP" altLang="en-US" smtClean="0"/>
              <a:t>2026/5/28</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9D233DE4-AE46-48B2-8054-5FEA11778163}" type="slidenum">
              <a:rPr kumimoji="1" lang="ja-JP" altLang="en-US" smtClean="0"/>
              <a:t>‹#›</a:t>
            </a:fld>
            <a:endParaRPr kumimoji="1" lang="ja-JP" altLang="en-US"/>
          </a:p>
        </p:txBody>
      </p:sp>
    </p:spTree>
    <p:extLst>
      <p:ext uri="{BB962C8B-B14F-4D97-AF65-F5344CB8AC3E}">
        <p14:creationId xmlns:p14="http://schemas.microsoft.com/office/powerpoint/2010/main" val="38754657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98D100FA-5EDA-4200-8693-934184B2464A}" type="datetimeFigureOut">
              <a:rPr kumimoji="1" lang="ja-JP" altLang="en-US" smtClean="0"/>
              <a:t>2026/5/28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9D233DE4-AE46-48B2-8054-5FEA11778163}" type="slidenum">
              <a:rPr kumimoji="1" lang="ja-JP" altLang="en-US" smtClean="0"/>
              <a:t>‹#›</a:t>
            </a:fld>
            <a:endParaRPr kumimoji="1" lang="ja-JP" altLang="en-US"/>
          </a:p>
        </p:txBody>
      </p:sp>
    </p:spTree>
    <p:extLst>
      <p:ext uri="{BB962C8B-B14F-4D97-AF65-F5344CB8AC3E}">
        <p14:creationId xmlns:p14="http://schemas.microsoft.com/office/powerpoint/2010/main" val="38421149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0362"/>
            <a:ext cx="2628900" cy="5811838"/>
          </a:xfrm>
        </p:spPr>
        <p:txBody>
          <a:bodyPr vert="eaVert"/>
          <a:lstStyle/>
          <a:p>
            <a:r>
              <a:rPr lang="ja-JP" altLang="en-US"/>
              <a:t>マスター タイトルの書式設定</a:t>
            </a:r>
            <a:endParaRPr lang="en-US"/>
          </a:p>
        </p:txBody>
      </p:sp>
      <p:sp>
        <p:nvSpPr>
          <p:cNvPr id="3" name="Vertical Text Placeholder 2"/>
          <p:cNvSpPr>
            <a:spLocks noGrp="1"/>
          </p:cNvSpPr>
          <p:nvPr>
            <p:ph type="body" orient="vert" idx="1"/>
          </p:nvPr>
        </p:nvSpPr>
        <p:spPr>
          <a:xfrm>
            <a:off x="838200" y="360362"/>
            <a:ext cx="7734300" cy="5811837"/>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98D100FA-5EDA-4200-8693-934184B2464A}" type="datetimeFigureOut">
              <a:rPr kumimoji="1" lang="ja-JP" altLang="en-US" smtClean="0"/>
              <a:t>2026/5/28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9D233DE4-AE46-48B2-8054-5FEA11778163}" type="slidenum">
              <a:rPr kumimoji="1" lang="ja-JP" altLang="en-US" smtClean="0"/>
              <a:t>‹#›</a:t>
            </a:fld>
            <a:endParaRPr kumimoji="1" lang="ja-JP" altLang="en-US"/>
          </a:p>
        </p:txBody>
      </p:sp>
    </p:spTree>
    <p:extLst>
      <p:ext uri="{BB962C8B-B14F-4D97-AF65-F5344CB8AC3E}">
        <p14:creationId xmlns:p14="http://schemas.microsoft.com/office/powerpoint/2010/main" val="28589633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45127" y="365760"/>
            <a:ext cx="10515600" cy="1325562"/>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845127" y="1828800"/>
            <a:ext cx="10515600" cy="4351337"/>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fld id="{98D100FA-5EDA-4200-8693-934184B2464A}" type="datetimeFigureOut">
              <a:rPr kumimoji="1" lang="ja-JP" altLang="en-US" smtClean="0"/>
              <a:t>2026/5/28</a:t>
            </a:fld>
            <a:endParaRPr kumimoji="1" lang="ja-JP"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100">
                <a:solidFill>
                  <a:schemeClr val="tx1">
                    <a:lumMod val="65000"/>
                    <a:lumOff val="35000"/>
                  </a:schemeClr>
                </a:solidFill>
              </a:defRPr>
            </a:lvl1pPr>
          </a:lstStyle>
          <a:p>
            <a:endParaRPr kumimoji="1" lang="ja-JP" altLang="en-US"/>
          </a:p>
        </p:txBody>
      </p:sp>
      <p:sp>
        <p:nvSpPr>
          <p:cNvPr id="6" name="Slide Number Placeholder 5"/>
          <p:cNvSpPr>
            <a:spLocks noGrp="1"/>
          </p:cNvSpPr>
          <p:nvPr>
            <p:ph type="sldNum" sz="quarter" idx="4"/>
          </p:nvPr>
        </p:nvSpPr>
        <p:spPr>
          <a:xfrm>
            <a:off x="8617527" y="6356350"/>
            <a:ext cx="2743200" cy="365125"/>
          </a:xfrm>
          <a:prstGeom prst="rect">
            <a:avLst/>
          </a:prstGeom>
        </p:spPr>
        <p:txBody>
          <a:bodyPr vert="horz" lIns="91440" tIns="45720" rIns="91440" bIns="45720" rtlCol="0" anchor="ctr"/>
          <a:lstStyle>
            <a:lvl1pPr algn="r">
              <a:defRPr sz="1100">
                <a:solidFill>
                  <a:schemeClr val="tx1">
                    <a:tint val="75000"/>
                  </a:schemeClr>
                </a:solidFill>
              </a:defRPr>
            </a:lvl1pPr>
          </a:lstStyle>
          <a:p>
            <a:fld id="{9D233DE4-AE46-48B2-8054-5FEA11778163}" type="slidenum">
              <a:rPr kumimoji="1" lang="ja-JP" altLang="en-US" smtClean="0"/>
              <a:t>‹#›</a:t>
            </a:fld>
            <a:endParaRPr kumimoji="1" lang="ja-JP" altLang="en-US"/>
          </a:p>
        </p:txBody>
      </p:sp>
    </p:spTree>
    <p:extLst>
      <p:ext uri="{BB962C8B-B14F-4D97-AF65-F5344CB8AC3E}">
        <p14:creationId xmlns:p14="http://schemas.microsoft.com/office/powerpoint/2010/main" val="74423294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F6A512A-CB75-C27E-511F-26F2883324E4}"/>
              </a:ext>
            </a:extLst>
          </p:cNvPr>
          <p:cNvSpPr>
            <a:spLocks noGrp="1"/>
          </p:cNvSpPr>
          <p:nvPr>
            <p:ph type="ctrTitle"/>
          </p:nvPr>
        </p:nvSpPr>
        <p:spPr>
          <a:xfrm>
            <a:off x="1524000" y="1530930"/>
            <a:ext cx="9144000" cy="2387600"/>
          </a:xfrm>
        </p:spPr>
        <p:txBody>
          <a:bodyPr/>
          <a:lstStyle/>
          <a:p>
            <a:r>
              <a:rPr lang="en-US" altLang="ja-JP" dirty="0"/>
              <a:t>C#</a:t>
            </a:r>
            <a:r>
              <a:rPr lang="ja-JP" altLang="en-US" dirty="0"/>
              <a:t>研修</a:t>
            </a:r>
            <a:br>
              <a:rPr lang="en-US" altLang="ja-JP" dirty="0"/>
            </a:br>
            <a:r>
              <a:rPr lang="ja-JP" altLang="en-US" dirty="0"/>
              <a:t>発表資料</a:t>
            </a:r>
            <a:endParaRPr kumimoji="1" lang="ja-JP" altLang="en-US" dirty="0"/>
          </a:p>
        </p:txBody>
      </p:sp>
      <p:sp>
        <p:nvSpPr>
          <p:cNvPr id="3" name="字幕 2">
            <a:extLst>
              <a:ext uri="{FF2B5EF4-FFF2-40B4-BE49-F238E27FC236}">
                <a16:creationId xmlns:a16="http://schemas.microsoft.com/office/drawing/2014/main" id="{D4FC1545-6947-9418-1141-BA500CC124FB}"/>
              </a:ext>
            </a:extLst>
          </p:cNvPr>
          <p:cNvSpPr>
            <a:spLocks noGrp="1"/>
          </p:cNvSpPr>
          <p:nvPr>
            <p:ph type="subTitle" idx="1"/>
          </p:nvPr>
        </p:nvSpPr>
        <p:spPr>
          <a:xfrm>
            <a:off x="1524000" y="4427538"/>
            <a:ext cx="9144000" cy="1655762"/>
          </a:xfrm>
        </p:spPr>
        <p:txBody>
          <a:bodyPr/>
          <a:lstStyle/>
          <a:p>
            <a:endParaRPr kumimoji="1" lang="en-US" altLang="ja-JP" dirty="0"/>
          </a:p>
          <a:p>
            <a:r>
              <a:rPr lang="ja-JP" altLang="en-US" dirty="0"/>
              <a:t>瀬川　瑞人</a:t>
            </a:r>
            <a:endParaRPr lang="en-US" altLang="ja-JP" dirty="0"/>
          </a:p>
          <a:p>
            <a:endParaRPr kumimoji="1" lang="en-US" altLang="ja-JP" dirty="0"/>
          </a:p>
          <a:p>
            <a:endParaRPr lang="en-US" altLang="ja-JP" dirty="0"/>
          </a:p>
          <a:p>
            <a:endParaRPr kumimoji="1" lang="ja-JP" altLang="en-US" dirty="0"/>
          </a:p>
        </p:txBody>
      </p:sp>
    </p:spTree>
    <p:extLst>
      <p:ext uri="{BB962C8B-B14F-4D97-AF65-F5344CB8AC3E}">
        <p14:creationId xmlns:p14="http://schemas.microsoft.com/office/powerpoint/2010/main" val="26103767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19A4210-5CDF-1F6F-A06F-F44E0FE2F6A4}"/>
              </a:ext>
            </a:extLst>
          </p:cNvPr>
          <p:cNvSpPr>
            <a:spLocks noGrp="1"/>
          </p:cNvSpPr>
          <p:nvPr>
            <p:ph type="title"/>
          </p:nvPr>
        </p:nvSpPr>
        <p:spPr>
          <a:xfrm>
            <a:off x="453527" y="143051"/>
            <a:ext cx="9963509" cy="1616529"/>
          </a:xfrm>
        </p:spPr>
        <p:txBody>
          <a:bodyPr>
            <a:normAutofit/>
          </a:bodyPr>
          <a:lstStyle/>
          <a:p>
            <a:r>
              <a:rPr lang="ja-JP" altLang="en-US" sz="4000" dirty="0">
                <a:solidFill>
                  <a:schemeClr val="accent5">
                    <a:lumMod val="75000"/>
                  </a:schemeClr>
                </a:solidFill>
              </a:rPr>
              <a:t>開発スケジュールの報告</a:t>
            </a:r>
            <a:endParaRPr kumimoji="1" lang="ja-JP" altLang="en-US" sz="4000" dirty="0">
              <a:solidFill>
                <a:schemeClr val="accent5">
                  <a:lumMod val="75000"/>
                </a:schemeClr>
              </a:solidFill>
            </a:endParaRPr>
          </a:p>
        </p:txBody>
      </p:sp>
      <p:graphicFrame>
        <p:nvGraphicFramePr>
          <p:cNvPr id="4" name="コンテンツ プレースホルダー 3">
            <a:extLst>
              <a:ext uri="{FF2B5EF4-FFF2-40B4-BE49-F238E27FC236}">
                <a16:creationId xmlns:a16="http://schemas.microsoft.com/office/drawing/2014/main" id="{047430FF-27CB-E86C-DE0B-F6F99F79D0F2}"/>
              </a:ext>
            </a:extLst>
          </p:cNvPr>
          <p:cNvGraphicFramePr>
            <a:graphicFrameLocks noGrp="1"/>
          </p:cNvGraphicFramePr>
          <p:nvPr>
            <p:ph idx="1"/>
            <p:extLst>
              <p:ext uri="{D42A27DB-BD31-4B8C-83A1-F6EECF244321}">
                <p14:modId xmlns:p14="http://schemas.microsoft.com/office/powerpoint/2010/main" val="2127144165"/>
              </p:ext>
            </p:extLst>
          </p:nvPr>
        </p:nvGraphicFramePr>
        <p:xfrm>
          <a:off x="253388" y="2544411"/>
          <a:ext cx="11189952" cy="3855369"/>
        </p:xfrm>
        <a:graphic>
          <a:graphicData uri="http://schemas.openxmlformats.org/drawingml/2006/table">
            <a:tbl>
              <a:tblPr/>
              <a:tblGrid>
                <a:gridCol w="417472">
                  <a:extLst>
                    <a:ext uri="{9D8B030D-6E8A-4147-A177-3AD203B41FA5}">
                      <a16:colId xmlns:a16="http://schemas.microsoft.com/office/drawing/2014/main" val="1521756255"/>
                    </a:ext>
                  </a:extLst>
                </a:gridCol>
                <a:gridCol w="1962171">
                  <a:extLst>
                    <a:ext uri="{9D8B030D-6E8A-4147-A177-3AD203B41FA5}">
                      <a16:colId xmlns:a16="http://schemas.microsoft.com/office/drawing/2014/main" val="1177841322"/>
                    </a:ext>
                  </a:extLst>
                </a:gridCol>
                <a:gridCol w="2060154">
                  <a:extLst>
                    <a:ext uri="{9D8B030D-6E8A-4147-A177-3AD203B41FA5}">
                      <a16:colId xmlns:a16="http://schemas.microsoft.com/office/drawing/2014/main" val="3797418654"/>
                    </a:ext>
                  </a:extLst>
                </a:gridCol>
                <a:gridCol w="2104460">
                  <a:extLst>
                    <a:ext uri="{9D8B030D-6E8A-4147-A177-3AD203B41FA5}">
                      <a16:colId xmlns:a16="http://schemas.microsoft.com/office/drawing/2014/main" val="1390867327"/>
                    </a:ext>
                  </a:extLst>
                </a:gridCol>
                <a:gridCol w="2320355">
                  <a:extLst>
                    <a:ext uri="{9D8B030D-6E8A-4147-A177-3AD203B41FA5}">
                      <a16:colId xmlns:a16="http://schemas.microsoft.com/office/drawing/2014/main" val="1552354555"/>
                    </a:ext>
                  </a:extLst>
                </a:gridCol>
                <a:gridCol w="2325340">
                  <a:extLst>
                    <a:ext uri="{9D8B030D-6E8A-4147-A177-3AD203B41FA5}">
                      <a16:colId xmlns:a16="http://schemas.microsoft.com/office/drawing/2014/main" val="125298757"/>
                    </a:ext>
                  </a:extLst>
                </a:gridCol>
              </a:tblGrid>
              <a:tr h="261564">
                <a:tc>
                  <a:txBody>
                    <a:bodyPr/>
                    <a:lstStyle/>
                    <a:p>
                      <a:pPr algn="l" fontAlgn="t">
                        <a:buNone/>
                      </a:pPr>
                      <a:r>
                        <a:rPr lang="ja-JP" sz="1100" b="0" i="0" u="none" strike="noStrike">
                          <a:solidFill>
                            <a:srgbClr val="404040"/>
                          </a:solidFill>
                          <a:effectLst/>
                          <a:latin typeface="Meiryo UI" panose="020B0604030504040204" pitchFamily="34" charset="-128"/>
                          <a:ea typeface="Meiryo UI" panose="020B0604030504040204" pitchFamily="34" charset="-128"/>
                        </a:rPr>
                        <a:t>日付</a:t>
                      </a:r>
                      <a:endParaRPr lang="ja-JP" sz="1700" b="0" i="0" u="none" strike="noStrike">
                        <a:effectLst/>
                        <a:latin typeface="Arial" panose="020B0604020202020204" pitchFamily="34" charset="0"/>
                      </a:endParaRPr>
                    </a:p>
                  </a:txBody>
                  <a:tcPr marL="6168" marR="6168" marT="616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ja-JP" sz="1100" b="0" i="0" u="none" strike="noStrike">
                          <a:solidFill>
                            <a:srgbClr val="404040"/>
                          </a:solidFill>
                          <a:effectLst/>
                          <a:latin typeface="Meiryo UI" panose="020B0604030504040204" pitchFamily="34" charset="-128"/>
                          <a:ea typeface="Meiryo UI" panose="020B0604030504040204" pitchFamily="34" charset="-128"/>
                        </a:rPr>
                        <a:t>１８日</a:t>
                      </a:r>
                      <a:endParaRPr lang="ja-JP" sz="1700" b="0" i="0" u="none" strike="noStrike">
                        <a:effectLst/>
                        <a:latin typeface="Arial" panose="020B0604020202020204" pitchFamily="34" charset="0"/>
                      </a:endParaRPr>
                    </a:p>
                  </a:txBody>
                  <a:tcPr marL="6168" marR="6168" marT="616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2A39F"/>
                    </a:solidFill>
                  </a:tcPr>
                </a:tc>
                <a:tc>
                  <a:txBody>
                    <a:bodyPr/>
                    <a:lstStyle/>
                    <a:p>
                      <a:pPr algn="l" fontAlgn="t">
                        <a:buNone/>
                      </a:pPr>
                      <a:r>
                        <a:rPr lang="ja-JP" sz="1100" b="0" i="0" u="none" strike="noStrike">
                          <a:solidFill>
                            <a:srgbClr val="404040"/>
                          </a:solidFill>
                          <a:effectLst/>
                          <a:latin typeface="Meiryo UI" panose="020B0604030504040204" pitchFamily="34" charset="-128"/>
                          <a:ea typeface="Meiryo UI" panose="020B0604030504040204" pitchFamily="34" charset="-128"/>
                        </a:rPr>
                        <a:t>１９日</a:t>
                      </a:r>
                      <a:endParaRPr lang="ja-JP" sz="1700" b="0" i="0" u="none" strike="noStrike">
                        <a:effectLst/>
                        <a:latin typeface="Arial" panose="020B0604020202020204" pitchFamily="34" charset="0"/>
                      </a:endParaRPr>
                    </a:p>
                  </a:txBody>
                  <a:tcPr marL="6168" marR="6168" marT="616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2A39F"/>
                    </a:solidFill>
                  </a:tcPr>
                </a:tc>
                <a:tc>
                  <a:txBody>
                    <a:bodyPr/>
                    <a:lstStyle/>
                    <a:p>
                      <a:pPr algn="l" fontAlgn="t">
                        <a:buNone/>
                      </a:pPr>
                      <a:r>
                        <a:rPr lang="ja-JP" sz="1100" b="0" i="0" u="none" strike="noStrike">
                          <a:solidFill>
                            <a:srgbClr val="404040"/>
                          </a:solidFill>
                          <a:effectLst/>
                          <a:latin typeface="Meiryo UI" panose="020B0604030504040204" pitchFamily="34" charset="-128"/>
                          <a:ea typeface="Meiryo UI" panose="020B0604030504040204" pitchFamily="34" charset="-128"/>
                        </a:rPr>
                        <a:t>２０日</a:t>
                      </a:r>
                      <a:endParaRPr lang="ja-JP" sz="1700" b="0" i="0" u="none" strike="noStrike">
                        <a:effectLst/>
                        <a:latin typeface="Arial" panose="020B0604020202020204" pitchFamily="34" charset="0"/>
                      </a:endParaRPr>
                    </a:p>
                  </a:txBody>
                  <a:tcPr marL="6168" marR="6168" marT="616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2A39F"/>
                    </a:solidFill>
                  </a:tcPr>
                </a:tc>
                <a:tc>
                  <a:txBody>
                    <a:bodyPr/>
                    <a:lstStyle/>
                    <a:p>
                      <a:pPr algn="l" fontAlgn="t">
                        <a:buNone/>
                      </a:pPr>
                      <a:r>
                        <a:rPr lang="ja-JP" sz="1100" b="0" i="0" u="none" strike="noStrike">
                          <a:solidFill>
                            <a:srgbClr val="404040"/>
                          </a:solidFill>
                          <a:effectLst/>
                          <a:latin typeface="Meiryo UI" panose="020B0604030504040204" pitchFamily="34" charset="-128"/>
                          <a:ea typeface="Meiryo UI" panose="020B0604030504040204" pitchFamily="34" charset="-128"/>
                        </a:rPr>
                        <a:t>２１日</a:t>
                      </a:r>
                      <a:endParaRPr lang="ja-JP" sz="1700" b="0" i="0" u="none" strike="noStrike">
                        <a:effectLst/>
                        <a:latin typeface="Arial" panose="020B0604020202020204" pitchFamily="34" charset="0"/>
                      </a:endParaRPr>
                    </a:p>
                  </a:txBody>
                  <a:tcPr marL="6168" marR="6168" marT="616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2A39F"/>
                    </a:solidFill>
                  </a:tcPr>
                </a:tc>
                <a:tc>
                  <a:txBody>
                    <a:bodyPr/>
                    <a:lstStyle/>
                    <a:p>
                      <a:pPr algn="l" fontAlgn="t">
                        <a:buNone/>
                      </a:pPr>
                      <a:r>
                        <a:rPr lang="ja-JP" sz="1100" b="0" i="0" u="none" strike="noStrike">
                          <a:solidFill>
                            <a:srgbClr val="404040"/>
                          </a:solidFill>
                          <a:effectLst/>
                          <a:latin typeface="Meiryo UI" panose="020B0604030504040204" pitchFamily="34" charset="-128"/>
                          <a:ea typeface="Meiryo UI" panose="020B0604030504040204" pitchFamily="34" charset="-128"/>
                        </a:rPr>
                        <a:t>２２日</a:t>
                      </a:r>
                      <a:endParaRPr lang="ja-JP" sz="1700" b="0" i="0" u="none" strike="noStrike">
                        <a:effectLst/>
                        <a:latin typeface="Arial" panose="020B0604020202020204" pitchFamily="34" charset="0"/>
                      </a:endParaRPr>
                    </a:p>
                  </a:txBody>
                  <a:tcPr marL="6168" marR="6168" marT="616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2A39F"/>
                    </a:solidFill>
                  </a:tcPr>
                </a:tc>
                <a:extLst>
                  <a:ext uri="{0D108BD9-81ED-4DB2-BD59-A6C34878D82A}">
                    <a16:rowId xmlns:a16="http://schemas.microsoft.com/office/drawing/2014/main" val="893653897"/>
                  </a:ext>
                </a:extLst>
              </a:tr>
              <a:tr h="678047">
                <a:tc>
                  <a:txBody>
                    <a:bodyPr/>
                    <a:lstStyle/>
                    <a:p>
                      <a:pPr algn="l" fontAlgn="t">
                        <a:buNone/>
                      </a:pPr>
                      <a:r>
                        <a:rPr lang="ja-JP" sz="1100" b="0" i="0" u="none" strike="noStrike">
                          <a:solidFill>
                            <a:srgbClr val="404040"/>
                          </a:solidFill>
                          <a:effectLst/>
                          <a:latin typeface="Meiryo UI" panose="020B0604030504040204" pitchFamily="34" charset="-128"/>
                          <a:ea typeface="Meiryo UI" panose="020B0604030504040204" pitchFamily="34" charset="-128"/>
                        </a:rPr>
                        <a:t>午前</a:t>
                      </a:r>
                      <a:endParaRPr lang="ja-JP" sz="1700" b="0" i="0" u="none" strike="noStrike">
                        <a:effectLst/>
                        <a:latin typeface="Arial" panose="020B0604020202020204" pitchFamily="34" charset="0"/>
                      </a:endParaRPr>
                    </a:p>
                  </a:txBody>
                  <a:tcPr marL="6168" marR="6168" marT="616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ja-JP" sz="1100" b="0" i="0" u="none" strike="noStrike" dirty="0">
                          <a:solidFill>
                            <a:srgbClr val="404040"/>
                          </a:solidFill>
                          <a:effectLst/>
                          <a:latin typeface="Meiryo UI" panose="020B0604030504040204" pitchFamily="34" charset="-128"/>
                          <a:ea typeface="Meiryo UI" panose="020B0604030504040204" pitchFamily="34" charset="-128"/>
                        </a:rPr>
                        <a:t>　</a:t>
                      </a:r>
                      <a:endParaRPr lang="ja-JP" sz="1700" b="0" i="0" u="none" strike="noStrike" dirty="0">
                        <a:effectLst/>
                        <a:latin typeface="Arial" panose="020B0604020202020204" pitchFamily="34" charset="0"/>
                      </a:endParaRPr>
                    </a:p>
                  </a:txBody>
                  <a:tcPr marL="6168" marR="6168" marT="616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sz="1100" b="0" i="0" u="none" strike="noStrike">
                          <a:solidFill>
                            <a:srgbClr val="404040"/>
                          </a:solidFill>
                          <a:effectLst/>
                          <a:latin typeface="Meiryo UI" panose="020B0604030504040204" pitchFamily="34" charset="-128"/>
                          <a:ea typeface="Meiryo UI" panose="020B0604030504040204" pitchFamily="34" charset="-128"/>
                        </a:rPr>
                        <a:t>　</a:t>
                      </a:r>
                      <a:endParaRPr lang="ja-JP" sz="1700" b="0" i="0" u="none" strike="noStrike">
                        <a:effectLst/>
                        <a:latin typeface="Arial" panose="020B0604020202020204" pitchFamily="34" charset="0"/>
                      </a:endParaRPr>
                    </a:p>
                  </a:txBody>
                  <a:tcPr marL="6168" marR="6168" marT="616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sz="1100" b="0" i="0" u="none" strike="noStrike" dirty="0">
                          <a:solidFill>
                            <a:srgbClr val="404040"/>
                          </a:solidFill>
                          <a:effectLst/>
                          <a:latin typeface="Meiryo UI" panose="020B0604030504040204" pitchFamily="34" charset="-128"/>
                          <a:ea typeface="Meiryo UI" panose="020B0604030504040204" pitchFamily="34" charset="-128"/>
                        </a:rPr>
                        <a:t>従業員登録のクラス図</a:t>
                      </a:r>
                      <a:br>
                        <a:rPr lang="ja-JP" sz="1100" b="0" i="0" u="none" strike="noStrike" dirty="0">
                          <a:solidFill>
                            <a:srgbClr val="404040"/>
                          </a:solidFill>
                          <a:effectLst/>
                          <a:latin typeface="Meiryo UI" panose="020B0604030504040204" pitchFamily="34" charset="-128"/>
                          <a:ea typeface="Meiryo UI" panose="020B0604030504040204" pitchFamily="34" charset="-128"/>
                        </a:rPr>
                      </a:br>
                      <a:r>
                        <a:rPr lang="ja-JP" sz="1100" b="0" i="0" u="none" strike="noStrike" dirty="0">
                          <a:solidFill>
                            <a:srgbClr val="404040"/>
                          </a:solidFill>
                          <a:effectLst/>
                          <a:latin typeface="Meiryo UI" panose="020B0604030504040204" pitchFamily="34" charset="-128"/>
                          <a:ea typeface="Meiryo UI" panose="020B0604030504040204" pitchFamily="34" charset="-128"/>
                        </a:rPr>
                        <a:t>従業員登録のシーケンス図</a:t>
                      </a:r>
                      <a:endParaRPr lang="ja-JP" sz="1700" b="0" i="0" u="none" strike="noStrike" dirty="0">
                        <a:effectLst/>
                        <a:latin typeface="Arial" panose="020B0604020202020204" pitchFamily="34" charset="0"/>
                      </a:endParaRPr>
                    </a:p>
                  </a:txBody>
                  <a:tcPr marL="6168" marR="6168" marT="616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sz="1100" b="0" i="0" u="none" strike="noStrike">
                          <a:solidFill>
                            <a:srgbClr val="404040"/>
                          </a:solidFill>
                          <a:effectLst/>
                          <a:latin typeface="Meiryo UI" panose="020B0604030504040204" pitchFamily="34" charset="-128"/>
                          <a:ea typeface="Meiryo UI" panose="020B0604030504040204" pitchFamily="34" charset="-128"/>
                        </a:rPr>
                        <a:t>従業員登録のテストケース</a:t>
                      </a:r>
                      <a:br>
                        <a:rPr lang="ja-JP" sz="1100" b="0" i="0" u="none" strike="noStrike">
                          <a:solidFill>
                            <a:srgbClr val="404040"/>
                          </a:solidFill>
                          <a:effectLst/>
                          <a:latin typeface="Meiryo UI" panose="020B0604030504040204" pitchFamily="34" charset="-128"/>
                          <a:ea typeface="Meiryo UI" panose="020B0604030504040204" pitchFamily="34" charset="-128"/>
                        </a:rPr>
                      </a:br>
                      <a:r>
                        <a:rPr lang="ja-JP" sz="1100" b="0" i="0" u="none" strike="noStrike">
                          <a:solidFill>
                            <a:srgbClr val="404040"/>
                          </a:solidFill>
                          <a:effectLst/>
                          <a:latin typeface="Meiryo UI" panose="020B0604030504040204" pitchFamily="34" charset="-128"/>
                          <a:ea typeface="Meiryo UI" panose="020B0604030504040204" pitchFamily="34" charset="-128"/>
                        </a:rPr>
                        <a:t>部署登録のテストケース</a:t>
                      </a:r>
                      <a:endParaRPr lang="ja-JP" sz="1700" b="0" i="0" u="none" strike="noStrike">
                        <a:effectLst/>
                        <a:latin typeface="Arial" panose="020B0604020202020204" pitchFamily="34" charset="0"/>
                      </a:endParaRPr>
                    </a:p>
                  </a:txBody>
                  <a:tcPr marL="6168" marR="6168" marT="616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sz="1100" b="0" i="0" u="none" strike="noStrike">
                          <a:solidFill>
                            <a:srgbClr val="404040"/>
                          </a:solidFill>
                          <a:effectLst/>
                          <a:latin typeface="Meiryo UI" panose="020B0604030504040204" pitchFamily="34" charset="-128"/>
                          <a:ea typeface="Meiryo UI" panose="020B0604030504040204" pitchFamily="34" charset="-128"/>
                        </a:rPr>
                        <a:t>従業員と部署一覧のクラス図</a:t>
                      </a:r>
                      <a:br>
                        <a:rPr lang="ja-JP" sz="1100" b="0" i="0" u="none" strike="noStrike">
                          <a:solidFill>
                            <a:srgbClr val="404040"/>
                          </a:solidFill>
                          <a:effectLst/>
                          <a:latin typeface="Meiryo UI" panose="020B0604030504040204" pitchFamily="34" charset="-128"/>
                          <a:ea typeface="Meiryo UI" panose="020B0604030504040204" pitchFamily="34" charset="-128"/>
                        </a:rPr>
                      </a:br>
                      <a:r>
                        <a:rPr lang="ja-JP" sz="1100" b="0" i="0" u="none" strike="noStrike">
                          <a:solidFill>
                            <a:srgbClr val="404040"/>
                          </a:solidFill>
                          <a:effectLst/>
                          <a:latin typeface="Meiryo UI" panose="020B0604030504040204" pitchFamily="34" charset="-128"/>
                          <a:ea typeface="Meiryo UI" panose="020B0604030504040204" pitchFamily="34" charset="-128"/>
                        </a:rPr>
                        <a:t>従業員と部署一覧のシーケンス図</a:t>
                      </a:r>
                      <a:br>
                        <a:rPr lang="ja-JP" sz="1100" b="0" i="0" u="none" strike="noStrike">
                          <a:solidFill>
                            <a:srgbClr val="404040"/>
                          </a:solidFill>
                          <a:effectLst/>
                          <a:latin typeface="Meiryo UI" panose="020B0604030504040204" pitchFamily="34" charset="-128"/>
                          <a:ea typeface="Meiryo UI" panose="020B0604030504040204" pitchFamily="34" charset="-128"/>
                        </a:rPr>
                      </a:br>
                      <a:r>
                        <a:rPr lang="ja-JP" sz="1100" b="0" i="0" u="none" strike="noStrike">
                          <a:solidFill>
                            <a:srgbClr val="404040"/>
                          </a:solidFill>
                          <a:effectLst/>
                          <a:latin typeface="Meiryo UI" panose="020B0604030504040204" pitchFamily="34" charset="-128"/>
                          <a:ea typeface="Meiryo UI" panose="020B0604030504040204" pitchFamily="34" charset="-128"/>
                        </a:rPr>
                        <a:t>従業員と部署のテストケース</a:t>
                      </a:r>
                      <a:endParaRPr lang="ja-JP" sz="1700" b="0" i="0" u="none" strike="noStrike">
                        <a:effectLst/>
                        <a:latin typeface="Arial" panose="020B0604020202020204" pitchFamily="34" charset="0"/>
                      </a:endParaRPr>
                    </a:p>
                  </a:txBody>
                  <a:tcPr marL="6168" marR="6168" marT="616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753268768"/>
                  </a:ext>
                </a:extLst>
              </a:tr>
              <a:tr h="768489">
                <a:tc>
                  <a:txBody>
                    <a:bodyPr/>
                    <a:lstStyle/>
                    <a:p>
                      <a:pPr algn="l" fontAlgn="t">
                        <a:buNone/>
                      </a:pPr>
                      <a:r>
                        <a:rPr lang="ja-JP" sz="1100" b="0" i="0" u="none" strike="noStrike">
                          <a:solidFill>
                            <a:srgbClr val="404040"/>
                          </a:solidFill>
                          <a:effectLst/>
                          <a:latin typeface="Meiryo UI" panose="020B0604030504040204" pitchFamily="34" charset="-128"/>
                          <a:ea typeface="Meiryo UI" panose="020B0604030504040204" pitchFamily="34" charset="-128"/>
                        </a:rPr>
                        <a:t>午後</a:t>
                      </a:r>
                      <a:endParaRPr lang="ja-JP" sz="1700" b="0" i="0" u="none" strike="noStrike">
                        <a:effectLst/>
                        <a:latin typeface="Arial" panose="020B0604020202020204" pitchFamily="34" charset="0"/>
                      </a:endParaRPr>
                    </a:p>
                  </a:txBody>
                  <a:tcPr marL="6168" marR="6168" marT="616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ja-JP" sz="1100" b="0" i="0" u="none" strike="noStrike" dirty="0">
                          <a:solidFill>
                            <a:srgbClr val="404040"/>
                          </a:solidFill>
                          <a:effectLst/>
                          <a:latin typeface="Meiryo UI" panose="020B0604030504040204" pitchFamily="34" charset="-128"/>
                          <a:ea typeface="Meiryo UI" panose="020B0604030504040204" pitchFamily="34" charset="-128"/>
                        </a:rPr>
                        <a:t>　</a:t>
                      </a:r>
                      <a:endParaRPr lang="ja-JP" sz="1700" b="0" i="0" u="none" strike="noStrike" dirty="0">
                        <a:effectLst/>
                        <a:latin typeface="Arial" panose="020B0604020202020204" pitchFamily="34" charset="0"/>
                      </a:endParaRPr>
                    </a:p>
                  </a:txBody>
                  <a:tcPr marL="6168" marR="6168" marT="616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sz="1100" b="0" i="0" u="none" strike="noStrike" dirty="0">
                          <a:solidFill>
                            <a:srgbClr val="404040"/>
                          </a:solidFill>
                          <a:effectLst/>
                          <a:latin typeface="Meiryo UI" panose="020B0604030504040204" pitchFamily="34" charset="-128"/>
                          <a:ea typeface="Meiryo UI" panose="020B0604030504040204" pitchFamily="34" charset="-128"/>
                        </a:rPr>
                        <a:t>　</a:t>
                      </a:r>
                      <a:endParaRPr lang="ja-JP" sz="1700" b="0" i="0" u="none" strike="noStrike" dirty="0">
                        <a:effectLst/>
                        <a:latin typeface="Arial" panose="020B0604020202020204" pitchFamily="34" charset="0"/>
                      </a:endParaRPr>
                    </a:p>
                  </a:txBody>
                  <a:tcPr marL="6168" marR="6168" marT="616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sz="1100" b="0" i="0" u="none" strike="noStrike">
                          <a:solidFill>
                            <a:srgbClr val="404040"/>
                          </a:solidFill>
                          <a:effectLst/>
                          <a:latin typeface="Meiryo UI" panose="020B0604030504040204" pitchFamily="34" charset="-128"/>
                          <a:ea typeface="Meiryo UI" panose="020B0604030504040204" pitchFamily="34" charset="-128"/>
                        </a:rPr>
                        <a:t>部署登録のクラス図</a:t>
                      </a:r>
                      <a:br>
                        <a:rPr lang="ja-JP" sz="1100" b="0" i="0" u="none" strike="noStrike">
                          <a:solidFill>
                            <a:srgbClr val="404040"/>
                          </a:solidFill>
                          <a:effectLst/>
                          <a:latin typeface="Meiryo UI" panose="020B0604030504040204" pitchFamily="34" charset="-128"/>
                          <a:ea typeface="Meiryo UI" panose="020B0604030504040204" pitchFamily="34" charset="-128"/>
                        </a:rPr>
                      </a:br>
                      <a:r>
                        <a:rPr lang="ja-JP" sz="1100" b="0" i="0" u="none" strike="noStrike">
                          <a:solidFill>
                            <a:srgbClr val="404040"/>
                          </a:solidFill>
                          <a:effectLst/>
                          <a:latin typeface="Meiryo UI" panose="020B0604030504040204" pitchFamily="34" charset="-128"/>
                          <a:ea typeface="Meiryo UI" panose="020B0604030504040204" pitchFamily="34" charset="-128"/>
                        </a:rPr>
                        <a:t>部署登録のシーケンス図</a:t>
                      </a:r>
                      <a:endParaRPr lang="ja-JP" sz="1700" b="0" i="0" u="none" strike="noStrike">
                        <a:effectLst/>
                        <a:latin typeface="Arial" panose="020B0604020202020204" pitchFamily="34" charset="0"/>
                      </a:endParaRPr>
                    </a:p>
                  </a:txBody>
                  <a:tcPr marL="6168" marR="6168" marT="616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zh-TW" sz="1100" b="0" i="0" u="none" strike="noStrike">
                          <a:solidFill>
                            <a:srgbClr val="404040"/>
                          </a:solidFill>
                          <a:effectLst/>
                          <a:latin typeface="Meiryo UI" panose="020B0604030504040204" pitchFamily="34" charset="-128"/>
                          <a:ea typeface="Meiryo UI" panose="020B0604030504040204" pitchFamily="34" charset="-128"/>
                        </a:rPr>
                        <a:t>従業員登録</a:t>
                      </a:r>
                      <a:br>
                        <a:rPr lang="zh-TW" sz="1100" b="0" i="0" u="none" strike="noStrike">
                          <a:solidFill>
                            <a:srgbClr val="404040"/>
                          </a:solidFill>
                          <a:effectLst/>
                          <a:latin typeface="Meiryo UI" panose="020B0604030504040204" pitchFamily="34" charset="-128"/>
                          <a:ea typeface="Meiryo UI" panose="020B0604030504040204" pitchFamily="34" charset="-128"/>
                        </a:rPr>
                      </a:br>
                      <a:r>
                        <a:rPr lang="zh-TW" sz="1100" b="0" i="0" u="none" strike="noStrike">
                          <a:solidFill>
                            <a:srgbClr val="404040"/>
                          </a:solidFill>
                          <a:effectLst/>
                          <a:latin typeface="Meiryo UI" panose="020B0604030504040204" pitchFamily="34" charset="-128"/>
                          <a:ea typeface="Meiryo UI" panose="020B0604030504040204" pitchFamily="34" charset="-128"/>
                        </a:rPr>
                        <a:t>部署登録</a:t>
                      </a:r>
                      <a:endParaRPr lang="ja-JP" sz="1700" b="0" i="0" u="none" strike="noStrike">
                        <a:effectLst/>
                        <a:latin typeface="Arial" panose="020B0604020202020204" pitchFamily="34" charset="0"/>
                      </a:endParaRPr>
                    </a:p>
                  </a:txBody>
                  <a:tcPr marL="6168" marR="6168" marT="616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zh-TW" sz="1100" b="0" i="0" u="none" strike="noStrike" dirty="0">
                          <a:solidFill>
                            <a:srgbClr val="404040"/>
                          </a:solidFill>
                          <a:effectLst/>
                          <a:latin typeface="Meiryo UI" panose="020B0604030504040204" pitchFamily="34" charset="-128"/>
                          <a:ea typeface="Meiryo UI" panose="020B0604030504040204" pitchFamily="34" charset="-128"/>
                        </a:rPr>
                        <a:t>従業員一覧　</a:t>
                      </a:r>
                      <a:br>
                        <a:rPr lang="zh-TW" sz="1100" b="0" i="0" u="none" strike="noStrike" dirty="0">
                          <a:solidFill>
                            <a:srgbClr val="404040"/>
                          </a:solidFill>
                          <a:effectLst/>
                          <a:latin typeface="Meiryo UI" panose="020B0604030504040204" pitchFamily="34" charset="-128"/>
                          <a:ea typeface="Meiryo UI" panose="020B0604030504040204" pitchFamily="34" charset="-128"/>
                        </a:rPr>
                      </a:br>
                      <a:r>
                        <a:rPr lang="zh-TW" sz="1100" b="0" i="0" u="none" strike="noStrike" dirty="0">
                          <a:solidFill>
                            <a:srgbClr val="404040"/>
                          </a:solidFill>
                          <a:effectLst/>
                          <a:latin typeface="Meiryo UI" panose="020B0604030504040204" pitchFamily="34" charset="-128"/>
                          <a:ea typeface="Meiryo UI" panose="020B0604030504040204" pitchFamily="34" charset="-128"/>
                        </a:rPr>
                        <a:t>部署一覧</a:t>
                      </a:r>
                      <a:endParaRPr lang="ja-JP" sz="1700" b="0" i="0" u="none" strike="noStrike" dirty="0">
                        <a:effectLst/>
                        <a:latin typeface="Arial" panose="020B0604020202020204" pitchFamily="34" charset="0"/>
                      </a:endParaRPr>
                    </a:p>
                  </a:txBody>
                  <a:tcPr marL="6168" marR="6168" marT="616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213700853"/>
                  </a:ext>
                </a:extLst>
              </a:tr>
              <a:tr h="261564">
                <a:tc>
                  <a:txBody>
                    <a:bodyPr/>
                    <a:lstStyle/>
                    <a:p>
                      <a:pPr algn="l" fontAlgn="t">
                        <a:buNone/>
                      </a:pPr>
                      <a:r>
                        <a:rPr lang="ja-JP" sz="1100" b="0" i="0" u="none" strike="noStrike" dirty="0">
                          <a:solidFill>
                            <a:srgbClr val="404040"/>
                          </a:solidFill>
                          <a:effectLst/>
                          <a:latin typeface="Meiryo UI" panose="020B0604030504040204" pitchFamily="34" charset="-128"/>
                          <a:ea typeface="Meiryo UI" panose="020B0604030504040204" pitchFamily="34" charset="-128"/>
                        </a:rPr>
                        <a:t>日付</a:t>
                      </a:r>
                      <a:endParaRPr lang="ja-JP" sz="1700" b="0" i="0" u="none" strike="noStrike" dirty="0">
                        <a:effectLst/>
                        <a:latin typeface="Arial" panose="020B0604020202020204" pitchFamily="34" charset="0"/>
                      </a:endParaRPr>
                    </a:p>
                  </a:txBody>
                  <a:tcPr marL="6168" marR="6168" marT="616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ja-JP" sz="1100" b="0" i="0" u="none" strike="noStrike">
                          <a:solidFill>
                            <a:srgbClr val="404040"/>
                          </a:solidFill>
                          <a:effectLst/>
                          <a:latin typeface="Meiryo UI" panose="020B0604030504040204" pitchFamily="34" charset="-128"/>
                          <a:ea typeface="Meiryo UI" panose="020B0604030504040204" pitchFamily="34" charset="-128"/>
                        </a:rPr>
                        <a:t>２５日</a:t>
                      </a:r>
                      <a:endParaRPr lang="ja-JP" sz="1700" b="0" i="0" u="none" strike="noStrike">
                        <a:effectLst/>
                        <a:latin typeface="Arial" panose="020B0604020202020204" pitchFamily="34" charset="0"/>
                      </a:endParaRPr>
                    </a:p>
                  </a:txBody>
                  <a:tcPr marL="6168" marR="6168" marT="616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2A39F"/>
                    </a:solidFill>
                  </a:tcPr>
                </a:tc>
                <a:tc>
                  <a:txBody>
                    <a:bodyPr/>
                    <a:lstStyle/>
                    <a:p>
                      <a:pPr algn="l" fontAlgn="t">
                        <a:buNone/>
                      </a:pPr>
                      <a:r>
                        <a:rPr lang="ja-JP" sz="1100" b="0" i="0" u="none" strike="noStrike">
                          <a:solidFill>
                            <a:srgbClr val="404040"/>
                          </a:solidFill>
                          <a:effectLst/>
                          <a:latin typeface="Meiryo UI" panose="020B0604030504040204" pitchFamily="34" charset="-128"/>
                          <a:ea typeface="Meiryo UI" panose="020B0604030504040204" pitchFamily="34" charset="-128"/>
                        </a:rPr>
                        <a:t>２６日</a:t>
                      </a:r>
                      <a:endParaRPr lang="ja-JP" sz="1700" b="0" i="0" u="none" strike="noStrike">
                        <a:effectLst/>
                        <a:latin typeface="Arial" panose="020B0604020202020204" pitchFamily="34" charset="0"/>
                      </a:endParaRPr>
                    </a:p>
                  </a:txBody>
                  <a:tcPr marL="6168" marR="6168" marT="616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2A39F"/>
                    </a:solidFill>
                  </a:tcPr>
                </a:tc>
                <a:tc>
                  <a:txBody>
                    <a:bodyPr/>
                    <a:lstStyle/>
                    <a:p>
                      <a:pPr algn="l" fontAlgn="t">
                        <a:buNone/>
                      </a:pPr>
                      <a:r>
                        <a:rPr lang="ja-JP" sz="1100" b="0" i="0" u="none" strike="noStrike" dirty="0">
                          <a:solidFill>
                            <a:srgbClr val="404040"/>
                          </a:solidFill>
                          <a:effectLst/>
                          <a:latin typeface="Meiryo UI" panose="020B0604030504040204" pitchFamily="34" charset="-128"/>
                          <a:ea typeface="Meiryo UI" panose="020B0604030504040204" pitchFamily="34" charset="-128"/>
                        </a:rPr>
                        <a:t>２７日</a:t>
                      </a:r>
                      <a:endParaRPr lang="ja-JP" sz="1700" b="0" i="0" u="none" strike="noStrike" dirty="0">
                        <a:effectLst/>
                        <a:latin typeface="Arial" panose="020B0604020202020204" pitchFamily="34" charset="0"/>
                      </a:endParaRPr>
                    </a:p>
                  </a:txBody>
                  <a:tcPr marL="6168" marR="6168" marT="616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2A39F"/>
                    </a:solidFill>
                  </a:tcPr>
                </a:tc>
                <a:tc>
                  <a:txBody>
                    <a:bodyPr/>
                    <a:lstStyle/>
                    <a:p>
                      <a:pPr algn="l" fontAlgn="t">
                        <a:buNone/>
                      </a:pPr>
                      <a:r>
                        <a:rPr lang="ja-JP" sz="1100" b="0" i="0" u="none" strike="noStrike">
                          <a:solidFill>
                            <a:srgbClr val="404040"/>
                          </a:solidFill>
                          <a:effectLst/>
                          <a:latin typeface="Meiryo UI" panose="020B0604030504040204" pitchFamily="34" charset="-128"/>
                          <a:ea typeface="Meiryo UI" panose="020B0604030504040204" pitchFamily="34" charset="-128"/>
                        </a:rPr>
                        <a:t>２８日</a:t>
                      </a:r>
                      <a:endParaRPr lang="ja-JP" sz="1700" b="0" i="0" u="none" strike="noStrike">
                        <a:effectLst/>
                        <a:latin typeface="Arial" panose="020B0604020202020204" pitchFamily="34" charset="0"/>
                      </a:endParaRPr>
                    </a:p>
                  </a:txBody>
                  <a:tcPr marL="6168" marR="6168" marT="616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2A39F"/>
                    </a:solidFill>
                  </a:tcPr>
                </a:tc>
                <a:tc>
                  <a:txBody>
                    <a:bodyPr/>
                    <a:lstStyle/>
                    <a:p>
                      <a:pPr algn="l" fontAlgn="t">
                        <a:buNone/>
                      </a:pPr>
                      <a:r>
                        <a:rPr lang="ja-JP" sz="1100" b="0" i="0" u="none" strike="noStrike" dirty="0">
                          <a:solidFill>
                            <a:srgbClr val="404040"/>
                          </a:solidFill>
                          <a:effectLst/>
                          <a:latin typeface="Meiryo UI" panose="020B0604030504040204" pitchFamily="34" charset="-128"/>
                          <a:ea typeface="Meiryo UI" panose="020B0604030504040204" pitchFamily="34" charset="-128"/>
                        </a:rPr>
                        <a:t>　</a:t>
                      </a:r>
                      <a:endParaRPr lang="ja-JP" sz="1700" b="0" i="0" u="none" strike="noStrike" dirty="0">
                        <a:effectLst/>
                        <a:latin typeface="Arial" panose="020B0604020202020204" pitchFamily="34" charset="0"/>
                      </a:endParaRPr>
                    </a:p>
                  </a:txBody>
                  <a:tcPr marL="6168" marR="6168" marT="616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2A39F"/>
                    </a:solidFill>
                  </a:tcPr>
                </a:tc>
                <a:extLst>
                  <a:ext uri="{0D108BD9-81ED-4DB2-BD59-A6C34878D82A}">
                    <a16:rowId xmlns:a16="http://schemas.microsoft.com/office/drawing/2014/main" val="2679511346"/>
                  </a:ext>
                </a:extLst>
              </a:tr>
              <a:tr h="961308">
                <a:tc>
                  <a:txBody>
                    <a:bodyPr/>
                    <a:lstStyle/>
                    <a:p>
                      <a:pPr algn="l" fontAlgn="t">
                        <a:buNone/>
                      </a:pPr>
                      <a:r>
                        <a:rPr lang="ja-JP" sz="1100" b="0" i="0" u="none" strike="noStrike">
                          <a:solidFill>
                            <a:srgbClr val="404040"/>
                          </a:solidFill>
                          <a:effectLst/>
                          <a:latin typeface="Meiryo UI" panose="020B0604030504040204" pitchFamily="34" charset="-128"/>
                          <a:ea typeface="Meiryo UI" panose="020B0604030504040204" pitchFamily="34" charset="-128"/>
                        </a:rPr>
                        <a:t>午前</a:t>
                      </a:r>
                      <a:endParaRPr lang="ja-JP" sz="1700" b="0" i="0" u="none" strike="noStrike">
                        <a:effectLst/>
                        <a:latin typeface="Arial" panose="020B0604020202020204" pitchFamily="34" charset="0"/>
                      </a:endParaRPr>
                    </a:p>
                  </a:txBody>
                  <a:tcPr marL="6168" marR="6168" marT="616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ja-JP" sz="1100" b="0" i="0" u="none" strike="noStrike" dirty="0">
                          <a:solidFill>
                            <a:srgbClr val="404040"/>
                          </a:solidFill>
                          <a:effectLst/>
                          <a:latin typeface="Meiryo UI" panose="020B0604030504040204" pitchFamily="34" charset="-128"/>
                          <a:ea typeface="Meiryo UI" panose="020B0604030504040204" pitchFamily="34" charset="-128"/>
                        </a:rPr>
                        <a:t>従業員と部署削除のクラス図</a:t>
                      </a:r>
                      <a:br>
                        <a:rPr lang="ja-JP" sz="1100" b="0" i="0" u="none" strike="noStrike" dirty="0">
                          <a:solidFill>
                            <a:srgbClr val="404040"/>
                          </a:solidFill>
                          <a:effectLst/>
                          <a:latin typeface="Meiryo UI" panose="020B0604030504040204" pitchFamily="34" charset="-128"/>
                          <a:ea typeface="Meiryo UI" panose="020B0604030504040204" pitchFamily="34" charset="-128"/>
                        </a:rPr>
                      </a:br>
                      <a:r>
                        <a:rPr lang="ja-JP" sz="1100" b="0" i="0" u="none" strike="noStrike" dirty="0">
                          <a:solidFill>
                            <a:srgbClr val="404040"/>
                          </a:solidFill>
                          <a:effectLst/>
                          <a:latin typeface="Meiryo UI" panose="020B0604030504040204" pitchFamily="34" charset="-128"/>
                          <a:ea typeface="Meiryo UI" panose="020B0604030504040204" pitchFamily="34" charset="-128"/>
                        </a:rPr>
                        <a:t>従業員と部署削除のシーケンス図</a:t>
                      </a:r>
                      <a:br>
                        <a:rPr lang="ja-JP" sz="1100" b="0" i="0" u="none" strike="noStrike" dirty="0">
                          <a:solidFill>
                            <a:srgbClr val="404040"/>
                          </a:solidFill>
                          <a:effectLst/>
                          <a:latin typeface="Meiryo UI" panose="020B0604030504040204" pitchFamily="34" charset="-128"/>
                          <a:ea typeface="Meiryo UI" panose="020B0604030504040204" pitchFamily="34" charset="-128"/>
                        </a:rPr>
                      </a:br>
                      <a:r>
                        <a:rPr lang="ja-JP" sz="1100" b="0" i="0" u="none" strike="noStrike" dirty="0">
                          <a:solidFill>
                            <a:srgbClr val="404040"/>
                          </a:solidFill>
                          <a:effectLst/>
                          <a:latin typeface="Meiryo UI" panose="020B0604030504040204" pitchFamily="34" charset="-128"/>
                          <a:ea typeface="Meiryo UI" panose="020B0604030504040204" pitchFamily="34" charset="-128"/>
                        </a:rPr>
                        <a:t>従業員と部署削除のテストケース</a:t>
                      </a:r>
                      <a:endParaRPr lang="ja-JP" sz="1700" b="0" i="0" u="none" strike="noStrike" dirty="0">
                        <a:effectLst/>
                        <a:latin typeface="Arial" panose="020B0604020202020204" pitchFamily="34" charset="0"/>
                      </a:endParaRPr>
                    </a:p>
                  </a:txBody>
                  <a:tcPr marL="6168" marR="6168" marT="616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sz="1100" b="0" i="0" u="none" strike="noStrike">
                          <a:solidFill>
                            <a:srgbClr val="404040"/>
                          </a:solidFill>
                          <a:effectLst/>
                          <a:latin typeface="Meiryo UI" panose="020B0604030504040204" pitchFamily="34" charset="-128"/>
                          <a:ea typeface="Meiryo UI" panose="020B0604030504040204" pitchFamily="34" charset="-128"/>
                        </a:rPr>
                        <a:t>従業員と部署更新のクラス図</a:t>
                      </a:r>
                      <a:br>
                        <a:rPr lang="ja-JP" sz="1100" b="0" i="0" u="none" strike="noStrike">
                          <a:solidFill>
                            <a:srgbClr val="404040"/>
                          </a:solidFill>
                          <a:effectLst/>
                          <a:latin typeface="Meiryo UI" panose="020B0604030504040204" pitchFamily="34" charset="-128"/>
                          <a:ea typeface="Meiryo UI" panose="020B0604030504040204" pitchFamily="34" charset="-128"/>
                        </a:rPr>
                      </a:br>
                      <a:r>
                        <a:rPr lang="ja-JP" sz="1100" b="0" i="0" u="none" strike="noStrike">
                          <a:solidFill>
                            <a:srgbClr val="404040"/>
                          </a:solidFill>
                          <a:effectLst/>
                          <a:latin typeface="Meiryo UI" panose="020B0604030504040204" pitchFamily="34" charset="-128"/>
                          <a:ea typeface="Meiryo UI" panose="020B0604030504040204" pitchFamily="34" charset="-128"/>
                        </a:rPr>
                        <a:t>従業員と部署更新のシーケンス図</a:t>
                      </a:r>
                      <a:br>
                        <a:rPr lang="ja-JP" sz="1100" b="0" i="0" u="none" strike="noStrike">
                          <a:solidFill>
                            <a:srgbClr val="404040"/>
                          </a:solidFill>
                          <a:effectLst/>
                          <a:latin typeface="Meiryo UI" panose="020B0604030504040204" pitchFamily="34" charset="-128"/>
                          <a:ea typeface="Meiryo UI" panose="020B0604030504040204" pitchFamily="34" charset="-128"/>
                        </a:rPr>
                      </a:br>
                      <a:r>
                        <a:rPr lang="ja-JP" sz="1100" b="0" i="0" u="none" strike="noStrike">
                          <a:solidFill>
                            <a:srgbClr val="404040"/>
                          </a:solidFill>
                          <a:effectLst/>
                          <a:latin typeface="Meiryo UI" panose="020B0604030504040204" pitchFamily="34" charset="-128"/>
                          <a:ea typeface="Meiryo UI" panose="020B0604030504040204" pitchFamily="34" charset="-128"/>
                        </a:rPr>
                        <a:t>従業員と部署更新のテストケース</a:t>
                      </a:r>
                      <a:endParaRPr lang="ja-JP" sz="1700" b="0" i="0" u="none" strike="noStrike">
                        <a:effectLst/>
                        <a:latin typeface="Arial" panose="020B0604020202020204" pitchFamily="34" charset="0"/>
                      </a:endParaRPr>
                    </a:p>
                  </a:txBody>
                  <a:tcPr marL="6168" marR="6168" marT="616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sz="1100" b="0" i="0" u="none" strike="noStrike" dirty="0">
                          <a:solidFill>
                            <a:srgbClr val="404040"/>
                          </a:solidFill>
                          <a:effectLst/>
                          <a:latin typeface="Meiryo UI" panose="020B0604030504040204" pitchFamily="34" charset="-128"/>
                          <a:ea typeface="Meiryo UI" panose="020B0604030504040204" pitchFamily="34" charset="-128"/>
                        </a:rPr>
                        <a:t>見た目の改善</a:t>
                      </a:r>
                      <a:endParaRPr lang="ja-JP" sz="1700" b="0" i="0" u="none" strike="noStrike" dirty="0">
                        <a:effectLst/>
                        <a:latin typeface="Arial" panose="020B0604020202020204" pitchFamily="34" charset="0"/>
                      </a:endParaRPr>
                    </a:p>
                  </a:txBody>
                  <a:tcPr marL="6168" marR="6168" marT="616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sz="1100" b="0" i="0" u="none" strike="noStrike" dirty="0">
                          <a:solidFill>
                            <a:srgbClr val="404040"/>
                          </a:solidFill>
                          <a:effectLst/>
                          <a:latin typeface="Meiryo UI" panose="020B0604030504040204" pitchFamily="34" charset="-128"/>
                          <a:ea typeface="Meiryo UI" panose="020B0604030504040204" pitchFamily="34" charset="-128"/>
                        </a:rPr>
                        <a:t>発表資料の作成</a:t>
                      </a:r>
                      <a:endParaRPr lang="ja-JP" sz="1700" b="0" i="0" u="none" strike="noStrike" dirty="0">
                        <a:effectLst/>
                        <a:latin typeface="Arial" panose="020B0604020202020204" pitchFamily="34" charset="0"/>
                      </a:endParaRPr>
                    </a:p>
                  </a:txBody>
                  <a:tcPr marL="6168" marR="6168" marT="616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sz="1100" b="0" i="0" u="none" strike="noStrike" dirty="0">
                          <a:solidFill>
                            <a:srgbClr val="404040"/>
                          </a:solidFill>
                          <a:effectLst/>
                          <a:latin typeface="Meiryo UI" panose="020B0604030504040204" pitchFamily="34" charset="-128"/>
                          <a:ea typeface="Meiryo UI" panose="020B0604030504040204" pitchFamily="34" charset="-128"/>
                        </a:rPr>
                        <a:t>　</a:t>
                      </a:r>
                      <a:endParaRPr lang="ja-JP" sz="1700" b="0" i="0" u="none" strike="noStrike" dirty="0">
                        <a:effectLst/>
                        <a:latin typeface="Arial" panose="020B0604020202020204" pitchFamily="34" charset="0"/>
                      </a:endParaRPr>
                    </a:p>
                  </a:txBody>
                  <a:tcPr marL="6168" marR="6168" marT="616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94375886"/>
                  </a:ext>
                </a:extLst>
              </a:tr>
              <a:tr h="924397">
                <a:tc>
                  <a:txBody>
                    <a:bodyPr/>
                    <a:lstStyle/>
                    <a:p>
                      <a:pPr algn="l" fontAlgn="t">
                        <a:buNone/>
                      </a:pPr>
                      <a:r>
                        <a:rPr lang="ja-JP" sz="1100" b="0" i="0" u="none" strike="noStrike">
                          <a:solidFill>
                            <a:srgbClr val="404040"/>
                          </a:solidFill>
                          <a:effectLst/>
                          <a:latin typeface="Meiryo UI" panose="020B0604030504040204" pitchFamily="34" charset="-128"/>
                          <a:ea typeface="Meiryo UI" panose="020B0604030504040204" pitchFamily="34" charset="-128"/>
                        </a:rPr>
                        <a:t>午後</a:t>
                      </a:r>
                      <a:endParaRPr lang="ja-JP" sz="1700" b="0" i="0" u="none" strike="noStrike">
                        <a:effectLst/>
                        <a:latin typeface="Arial" panose="020B0604020202020204" pitchFamily="34" charset="0"/>
                      </a:endParaRPr>
                    </a:p>
                  </a:txBody>
                  <a:tcPr marL="6168" marR="6168" marT="616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zh-TW" sz="1100" b="0" i="0" u="none" strike="noStrike" dirty="0">
                          <a:solidFill>
                            <a:srgbClr val="404040"/>
                          </a:solidFill>
                          <a:effectLst/>
                          <a:latin typeface="Meiryo UI" panose="020B0604030504040204" pitchFamily="34" charset="-128"/>
                          <a:ea typeface="Meiryo UI" panose="020B0604030504040204" pitchFamily="34" charset="-128"/>
                        </a:rPr>
                        <a:t>社員削除</a:t>
                      </a:r>
                      <a:br>
                        <a:rPr lang="zh-TW" sz="1100" b="0" i="0" u="none" strike="noStrike" dirty="0">
                          <a:solidFill>
                            <a:srgbClr val="404040"/>
                          </a:solidFill>
                          <a:effectLst/>
                          <a:latin typeface="Meiryo UI" panose="020B0604030504040204" pitchFamily="34" charset="-128"/>
                          <a:ea typeface="Meiryo UI" panose="020B0604030504040204" pitchFamily="34" charset="-128"/>
                        </a:rPr>
                      </a:br>
                      <a:r>
                        <a:rPr lang="zh-TW" sz="1100" b="0" i="0" u="none" strike="noStrike" dirty="0">
                          <a:solidFill>
                            <a:srgbClr val="404040"/>
                          </a:solidFill>
                          <a:effectLst/>
                          <a:latin typeface="Meiryo UI" panose="020B0604030504040204" pitchFamily="34" charset="-128"/>
                          <a:ea typeface="Meiryo UI" panose="020B0604030504040204" pitchFamily="34" charset="-128"/>
                        </a:rPr>
                        <a:t>部署削除</a:t>
                      </a:r>
                      <a:endParaRPr lang="ja-JP" sz="1700" b="0" i="0" u="none" strike="noStrike" dirty="0">
                        <a:effectLst/>
                        <a:latin typeface="Arial" panose="020B0604020202020204" pitchFamily="34" charset="0"/>
                      </a:endParaRPr>
                    </a:p>
                  </a:txBody>
                  <a:tcPr marL="6168" marR="6168" marT="616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zh-TW" sz="1100" b="0" i="0" u="none" strike="noStrike">
                          <a:solidFill>
                            <a:srgbClr val="404040"/>
                          </a:solidFill>
                          <a:effectLst/>
                          <a:latin typeface="Meiryo UI" panose="020B0604030504040204" pitchFamily="34" charset="-128"/>
                          <a:ea typeface="Meiryo UI" panose="020B0604030504040204" pitchFamily="34" charset="-128"/>
                        </a:rPr>
                        <a:t>従業員更新</a:t>
                      </a:r>
                      <a:br>
                        <a:rPr lang="zh-TW" sz="1100" b="0" i="0" u="none" strike="noStrike">
                          <a:solidFill>
                            <a:srgbClr val="404040"/>
                          </a:solidFill>
                          <a:effectLst/>
                          <a:latin typeface="Meiryo UI" panose="020B0604030504040204" pitchFamily="34" charset="-128"/>
                          <a:ea typeface="Meiryo UI" panose="020B0604030504040204" pitchFamily="34" charset="-128"/>
                        </a:rPr>
                      </a:br>
                      <a:r>
                        <a:rPr lang="zh-TW" sz="1100" b="0" i="0" u="none" strike="noStrike">
                          <a:solidFill>
                            <a:srgbClr val="404040"/>
                          </a:solidFill>
                          <a:effectLst/>
                          <a:latin typeface="Meiryo UI" panose="020B0604030504040204" pitchFamily="34" charset="-128"/>
                          <a:ea typeface="Meiryo UI" panose="020B0604030504040204" pitchFamily="34" charset="-128"/>
                        </a:rPr>
                        <a:t>部署更新</a:t>
                      </a:r>
                      <a:endParaRPr lang="ja-JP" sz="1700" b="0" i="0" u="none" strike="noStrike">
                        <a:effectLst/>
                        <a:latin typeface="Arial" panose="020B0604020202020204" pitchFamily="34" charset="0"/>
                      </a:endParaRPr>
                    </a:p>
                  </a:txBody>
                  <a:tcPr marL="6168" marR="6168" marT="616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sz="1100" b="0" i="0" u="none" strike="noStrike">
                          <a:solidFill>
                            <a:srgbClr val="404040"/>
                          </a:solidFill>
                          <a:effectLst/>
                          <a:latin typeface="Meiryo UI" panose="020B0604030504040204" pitchFamily="34" charset="-128"/>
                          <a:ea typeface="Meiryo UI" panose="020B0604030504040204" pitchFamily="34" charset="-128"/>
                        </a:rPr>
                        <a:t>コードの修正</a:t>
                      </a:r>
                      <a:endParaRPr lang="ja-JP" sz="1700" b="0" i="0" u="none" strike="noStrike">
                        <a:effectLst/>
                        <a:latin typeface="Arial" panose="020B0604020202020204" pitchFamily="34" charset="0"/>
                      </a:endParaRPr>
                    </a:p>
                  </a:txBody>
                  <a:tcPr marL="6168" marR="6168" marT="616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sz="1100" b="0" i="0" u="none" strike="noStrike" dirty="0">
                          <a:solidFill>
                            <a:srgbClr val="404040"/>
                          </a:solidFill>
                          <a:effectLst/>
                          <a:latin typeface="Meiryo UI" panose="020B0604030504040204" pitchFamily="34" charset="-128"/>
                          <a:ea typeface="Meiryo UI" panose="020B0604030504040204" pitchFamily="34" charset="-128"/>
                        </a:rPr>
                        <a:t>発表資料の作成</a:t>
                      </a:r>
                      <a:endParaRPr lang="ja-JP" sz="1700" b="0" i="0" u="none" strike="noStrike" dirty="0">
                        <a:effectLst/>
                        <a:latin typeface="Arial" panose="020B0604020202020204" pitchFamily="34" charset="0"/>
                      </a:endParaRPr>
                    </a:p>
                  </a:txBody>
                  <a:tcPr marL="6168" marR="6168" marT="616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sz="1100" b="0" i="0" u="none" strike="noStrike" dirty="0">
                          <a:solidFill>
                            <a:srgbClr val="404040"/>
                          </a:solidFill>
                          <a:effectLst/>
                          <a:latin typeface="Meiryo UI" panose="020B0604030504040204" pitchFamily="34" charset="-128"/>
                          <a:ea typeface="Meiryo UI" panose="020B0604030504040204" pitchFamily="34" charset="-128"/>
                        </a:rPr>
                        <a:t>　</a:t>
                      </a:r>
                      <a:endParaRPr lang="ja-JP" sz="1700" b="0" i="0" u="none" strike="noStrike" dirty="0">
                        <a:effectLst/>
                        <a:latin typeface="Arial" panose="020B0604020202020204" pitchFamily="34" charset="0"/>
                      </a:endParaRPr>
                    </a:p>
                  </a:txBody>
                  <a:tcPr marL="6168" marR="6168" marT="616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3608269"/>
                  </a:ext>
                </a:extLst>
              </a:tr>
            </a:tbl>
          </a:graphicData>
        </a:graphic>
      </p:graphicFrame>
      <p:sp>
        <p:nvSpPr>
          <p:cNvPr id="6" name="テキスト ボックス 5">
            <a:extLst>
              <a:ext uri="{FF2B5EF4-FFF2-40B4-BE49-F238E27FC236}">
                <a16:creationId xmlns:a16="http://schemas.microsoft.com/office/drawing/2014/main" id="{62638F89-21E1-2FDA-CFC4-37361B17EEBC}"/>
              </a:ext>
            </a:extLst>
          </p:cNvPr>
          <p:cNvSpPr txBox="1"/>
          <p:nvPr/>
        </p:nvSpPr>
        <p:spPr>
          <a:xfrm>
            <a:off x="960303" y="1425577"/>
            <a:ext cx="10051644" cy="954107"/>
          </a:xfrm>
          <a:prstGeom prst="rect">
            <a:avLst/>
          </a:prstGeom>
          <a:noFill/>
        </p:spPr>
        <p:txBody>
          <a:bodyPr wrap="square">
            <a:spAutoFit/>
          </a:bodyPr>
          <a:lstStyle/>
          <a:p>
            <a:r>
              <a:rPr lang="ja-JP" altLang="en-US" sz="2800" dirty="0"/>
              <a:t>当初計画したスケジュール</a:t>
            </a:r>
            <a:endParaRPr lang="en-US" altLang="ja-JP" sz="2800" dirty="0"/>
          </a:p>
          <a:p>
            <a:r>
              <a:rPr lang="ja-JP" altLang="en-US" sz="2800" dirty="0"/>
              <a:t>登録、一覧、削除、更新の４つを作成するつもりだった。</a:t>
            </a:r>
            <a:endParaRPr lang="en-US" altLang="ja-JP" sz="2800" dirty="0"/>
          </a:p>
        </p:txBody>
      </p:sp>
    </p:spTree>
    <p:extLst>
      <p:ext uri="{BB962C8B-B14F-4D97-AF65-F5344CB8AC3E}">
        <p14:creationId xmlns:p14="http://schemas.microsoft.com/office/powerpoint/2010/main" val="757584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コンテンツ プレースホルダー 6">
            <a:extLst>
              <a:ext uri="{FF2B5EF4-FFF2-40B4-BE49-F238E27FC236}">
                <a16:creationId xmlns:a16="http://schemas.microsoft.com/office/drawing/2014/main" id="{F34039FA-E511-E0A2-BE2D-F2F52D09B93C}"/>
              </a:ext>
            </a:extLst>
          </p:cNvPr>
          <p:cNvGraphicFramePr>
            <a:graphicFrameLocks noGrp="1"/>
          </p:cNvGraphicFramePr>
          <p:nvPr>
            <p:ph idx="1"/>
            <p:extLst>
              <p:ext uri="{D42A27DB-BD31-4B8C-83A1-F6EECF244321}">
                <p14:modId xmlns:p14="http://schemas.microsoft.com/office/powerpoint/2010/main" val="2265362005"/>
              </p:ext>
            </p:extLst>
          </p:nvPr>
        </p:nvGraphicFramePr>
        <p:xfrm>
          <a:off x="683928" y="3000249"/>
          <a:ext cx="10824143" cy="3454067"/>
        </p:xfrm>
        <a:graphic>
          <a:graphicData uri="http://schemas.openxmlformats.org/drawingml/2006/table">
            <a:tbl>
              <a:tblPr/>
              <a:tblGrid>
                <a:gridCol w="579549">
                  <a:extLst>
                    <a:ext uri="{9D8B030D-6E8A-4147-A177-3AD203B41FA5}">
                      <a16:colId xmlns:a16="http://schemas.microsoft.com/office/drawing/2014/main" val="3958729921"/>
                    </a:ext>
                  </a:extLst>
                </a:gridCol>
                <a:gridCol w="1928150">
                  <a:extLst>
                    <a:ext uri="{9D8B030D-6E8A-4147-A177-3AD203B41FA5}">
                      <a16:colId xmlns:a16="http://schemas.microsoft.com/office/drawing/2014/main" val="213707698"/>
                    </a:ext>
                  </a:extLst>
                </a:gridCol>
                <a:gridCol w="2272739">
                  <a:extLst>
                    <a:ext uri="{9D8B030D-6E8A-4147-A177-3AD203B41FA5}">
                      <a16:colId xmlns:a16="http://schemas.microsoft.com/office/drawing/2014/main" val="2553161256"/>
                    </a:ext>
                  </a:extLst>
                </a:gridCol>
                <a:gridCol w="1725705">
                  <a:extLst>
                    <a:ext uri="{9D8B030D-6E8A-4147-A177-3AD203B41FA5}">
                      <a16:colId xmlns:a16="http://schemas.microsoft.com/office/drawing/2014/main" val="2517759334"/>
                    </a:ext>
                  </a:extLst>
                </a:gridCol>
                <a:gridCol w="1866900">
                  <a:extLst>
                    <a:ext uri="{9D8B030D-6E8A-4147-A177-3AD203B41FA5}">
                      <a16:colId xmlns:a16="http://schemas.microsoft.com/office/drawing/2014/main" val="255310387"/>
                    </a:ext>
                  </a:extLst>
                </a:gridCol>
                <a:gridCol w="2451100">
                  <a:extLst>
                    <a:ext uri="{9D8B030D-6E8A-4147-A177-3AD203B41FA5}">
                      <a16:colId xmlns:a16="http://schemas.microsoft.com/office/drawing/2014/main" val="442810049"/>
                    </a:ext>
                  </a:extLst>
                </a:gridCol>
              </a:tblGrid>
              <a:tr h="315912">
                <a:tc>
                  <a:txBody>
                    <a:bodyPr/>
                    <a:lstStyle/>
                    <a:p>
                      <a:pPr algn="l" fontAlgn="t">
                        <a:buNone/>
                      </a:pPr>
                      <a:r>
                        <a:rPr lang="ja-JP" altLang="en-US" sz="1100" b="0" i="0" u="none" strike="noStrike">
                          <a:solidFill>
                            <a:srgbClr val="404040"/>
                          </a:solidFill>
                          <a:effectLst/>
                          <a:latin typeface="Meiryo UI" panose="020B0604030504040204" pitchFamily="50" charset="-128"/>
                          <a:ea typeface="Meiryo UI" panose="020B0604030504040204" pitchFamily="50" charset="-128"/>
                        </a:rPr>
                        <a:t>日付</a:t>
                      </a:r>
                    </a:p>
                  </a:txBody>
                  <a:tcPr marL="3804" marR="3804" marT="38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ja-JP" altLang="en-US" sz="1100" b="0" i="0" u="none" strike="noStrike">
                          <a:solidFill>
                            <a:srgbClr val="404040"/>
                          </a:solidFill>
                          <a:effectLst/>
                          <a:latin typeface="Meiryo UI" panose="020B0604030504040204" pitchFamily="50" charset="-128"/>
                          <a:ea typeface="Meiryo UI" panose="020B0604030504040204" pitchFamily="50" charset="-128"/>
                        </a:rPr>
                        <a:t>１８日</a:t>
                      </a:r>
                    </a:p>
                  </a:txBody>
                  <a:tcPr marL="3804" marR="3804" marT="38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2A39F"/>
                    </a:solidFill>
                  </a:tcPr>
                </a:tc>
                <a:tc>
                  <a:txBody>
                    <a:bodyPr/>
                    <a:lstStyle/>
                    <a:p>
                      <a:pPr algn="l" fontAlgn="t">
                        <a:buNone/>
                      </a:pPr>
                      <a:r>
                        <a:rPr lang="ja-JP" altLang="en-US" sz="1100" b="0" i="0" u="none" strike="noStrike">
                          <a:solidFill>
                            <a:srgbClr val="404040"/>
                          </a:solidFill>
                          <a:effectLst/>
                          <a:latin typeface="Meiryo UI" panose="020B0604030504040204" pitchFamily="50" charset="-128"/>
                          <a:ea typeface="Meiryo UI" panose="020B0604030504040204" pitchFamily="50" charset="-128"/>
                        </a:rPr>
                        <a:t>１９日</a:t>
                      </a:r>
                    </a:p>
                  </a:txBody>
                  <a:tcPr marL="3804" marR="3804" marT="38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2A39F"/>
                    </a:solidFill>
                  </a:tcPr>
                </a:tc>
                <a:tc>
                  <a:txBody>
                    <a:bodyPr/>
                    <a:lstStyle/>
                    <a:p>
                      <a:pPr algn="l" fontAlgn="t">
                        <a:buNone/>
                      </a:pPr>
                      <a:r>
                        <a:rPr lang="ja-JP" altLang="en-US" sz="1100" b="0" i="0" u="none" strike="noStrike">
                          <a:solidFill>
                            <a:srgbClr val="404040"/>
                          </a:solidFill>
                          <a:effectLst/>
                          <a:latin typeface="Meiryo UI" panose="020B0604030504040204" pitchFamily="50" charset="-128"/>
                          <a:ea typeface="Meiryo UI" panose="020B0604030504040204" pitchFamily="50" charset="-128"/>
                        </a:rPr>
                        <a:t>２０日</a:t>
                      </a:r>
                    </a:p>
                  </a:txBody>
                  <a:tcPr marL="3804" marR="3804" marT="38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2A39F"/>
                    </a:solidFill>
                  </a:tcPr>
                </a:tc>
                <a:tc>
                  <a:txBody>
                    <a:bodyPr/>
                    <a:lstStyle/>
                    <a:p>
                      <a:pPr algn="l" fontAlgn="t">
                        <a:buNone/>
                      </a:pPr>
                      <a:r>
                        <a:rPr lang="ja-JP" altLang="en-US" sz="1100" b="0" i="0" u="none" strike="noStrike">
                          <a:solidFill>
                            <a:srgbClr val="404040"/>
                          </a:solidFill>
                          <a:effectLst/>
                          <a:latin typeface="Meiryo UI" panose="020B0604030504040204" pitchFamily="50" charset="-128"/>
                          <a:ea typeface="Meiryo UI" panose="020B0604030504040204" pitchFamily="50" charset="-128"/>
                        </a:rPr>
                        <a:t>２１日</a:t>
                      </a:r>
                    </a:p>
                  </a:txBody>
                  <a:tcPr marL="3804" marR="3804" marT="38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2A39F"/>
                    </a:solidFill>
                  </a:tcPr>
                </a:tc>
                <a:tc>
                  <a:txBody>
                    <a:bodyPr/>
                    <a:lstStyle/>
                    <a:p>
                      <a:pPr algn="l" fontAlgn="t">
                        <a:buNone/>
                      </a:pPr>
                      <a:r>
                        <a:rPr lang="ja-JP" altLang="en-US" sz="1100" b="0" i="0" u="none" strike="noStrike">
                          <a:solidFill>
                            <a:srgbClr val="404040"/>
                          </a:solidFill>
                          <a:effectLst/>
                          <a:latin typeface="Meiryo UI" panose="020B0604030504040204" pitchFamily="50" charset="-128"/>
                          <a:ea typeface="Meiryo UI" panose="020B0604030504040204" pitchFamily="50" charset="-128"/>
                        </a:rPr>
                        <a:t>２２日</a:t>
                      </a:r>
                    </a:p>
                  </a:txBody>
                  <a:tcPr marL="3804" marR="3804" marT="38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2A39F"/>
                    </a:solidFill>
                  </a:tcPr>
                </a:tc>
                <a:extLst>
                  <a:ext uri="{0D108BD9-81ED-4DB2-BD59-A6C34878D82A}">
                    <a16:rowId xmlns:a16="http://schemas.microsoft.com/office/drawing/2014/main" val="3918746823"/>
                  </a:ext>
                </a:extLst>
              </a:tr>
              <a:tr h="647157">
                <a:tc>
                  <a:txBody>
                    <a:bodyPr/>
                    <a:lstStyle/>
                    <a:p>
                      <a:pPr algn="l" fontAlgn="t">
                        <a:buNone/>
                      </a:pPr>
                      <a:r>
                        <a:rPr lang="ja-JP" altLang="en-US" sz="1100" b="0" i="0" u="none" strike="noStrike">
                          <a:solidFill>
                            <a:srgbClr val="404040"/>
                          </a:solidFill>
                          <a:effectLst/>
                          <a:latin typeface="Meiryo UI" panose="020B0604030504040204" pitchFamily="50" charset="-128"/>
                          <a:ea typeface="Meiryo UI" panose="020B0604030504040204" pitchFamily="50" charset="-128"/>
                        </a:rPr>
                        <a:t>午前</a:t>
                      </a:r>
                    </a:p>
                  </a:txBody>
                  <a:tcPr marL="3804" marR="3804" marT="38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ja-JP" altLang="en-US" sz="1100" b="0" i="0" u="none" strike="noStrike" dirty="0">
                          <a:solidFill>
                            <a:srgbClr val="404040"/>
                          </a:solidFill>
                          <a:effectLst/>
                          <a:latin typeface="Meiryo UI" panose="020B0604030504040204" pitchFamily="50" charset="-128"/>
                          <a:ea typeface="Meiryo UI" panose="020B0604030504040204" pitchFamily="50" charset="-128"/>
                        </a:rPr>
                        <a:t>　</a:t>
                      </a:r>
                    </a:p>
                  </a:txBody>
                  <a:tcPr marL="3804" marR="3804" marT="38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ja-JP" altLang="en-US" sz="1100" b="0" i="0" u="none" strike="noStrike">
                          <a:solidFill>
                            <a:srgbClr val="404040"/>
                          </a:solidFill>
                          <a:effectLst/>
                          <a:latin typeface="Meiryo UI" panose="020B0604030504040204" pitchFamily="50" charset="-128"/>
                          <a:ea typeface="Meiryo UI" panose="020B0604030504040204" pitchFamily="50" charset="-128"/>
                        </a:rPr>
                        <a:t>　</a:t>
                      </a:r>
                    </a:p>
                  </a:txBody>
                  <a:tcPr marL="3804" marR="3804" marT="38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ja-JP" altLang="en-US" sz="1100" b="0" i="0" u="none" strike="noStrike">
                          <a:solidFill>
                            <a:srgbClr val="404040"/>
                          </a:solidFill>
                          <a:effectLst/>
                          <a:latin typeface="Meiryo UI" panose="020B0604030504040204" pitchFamily="50" charset="-128"/>
                          <a:ea typeface="Meiryo UI" panose="020B0604030504040204" pitchFamily="50" charset="-128"/>
                        </a:rPr>
                        <a:t>従業員登録のクラス図</a:t>
                      </a:r>
                      <a:br>
                        <a:rPr lang="ja-JP" altLang="en-US" sz="1100" b="0" i="0" u="none" strike="noStrike">
                          <a:solidFill>
                            <a:srgbClr val="404040"/>
                          </a:solidFill>
                          <a:effectLst/>
                          <a:latin typeface="Meiryo UI" panose="020B0604030504040204" pitchFamily="50" charset="-128"/>
                          <a:ea typeface="Meiryo UI" panose="020B0604030504040204" pitchFamily="50" charset="-128"/>
                        </a:rPr>
                      </a:br>
                      <a:r>
                        <a:rPr lang="ja-JP" altLang="en-US" sz="1100" b="0" i="0" u="none" strike="noStrike">
                          <a:solidFill>
                            <a:srgbClr val="404040"/>
                          </a:solidFill>
                          <a:effectLst/>
                          <a:latin typeface="Meiryo UI" panose="020B0604030504040204" pitchFamily="50" charset="-128"/>
                          <a:ea typeface="Meiryo UI" panose="020B0604030504040204" pitchFamily="50" charset="-128"/>
                        </a:rPr>
                        <a:t>従業員登録のシーケンス図</a:t>
                      </a:r>
                    </a:p>
                  </a:txBody>
                  <a:tcPr marL="3804" marR="3804" marT="38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1100" b="0" i="0" u="none" strike="noStrike">
                          <a:solidFill>
                            <a:srgbClr val="404040"/>
                          </a:solidFill>
                          <a:effectLst/>
                          <a:latin typeface="Meiryo UI" panose="020B0604030504040204" pitchFamily="50" charset="-128"/>
                          <a:ea typeface="Meiryo UI" panose="020B0604030504040204" pitchFamily="50" charset="-128"/>
                        </a:rPr>
                        <a:t>従業員登録のテストケース</a:t>
                      </a:r>
                      <a:br>
                        <a:rPr lang="ja-JP" altLang="en-US" sz="1100" b="0" i="0" u="none" strike="noStrike">
                          <a:solidFill>
                            <a:srgbClr val="404040"/>
                          </a:solidFill>
                          <a:effectLst/>
                          <a:latin typeface="Meiryo UI" panose="020B0604030504040204" pitchFamily="50" charset="-128"/>
                          <a:ea typeface="Meiryo UI" panose="020B0604030504040204" pitchFamily="50" charset="-128"/>
                        </a:rPr>
                      </a:br>
                      <a:r>
                        <a:rPr lang="ja-JP" altLang="en-US" sz="1100" b="0" i="0" u="none" strike="noStrike">
                          <a:solidFill>
                            <a:srgbClr val="404040"/>
                          </a:solidFill>
                          <a:effectLst/>
                          <a:latin typeface="Meiryo UI" panose="020B0604030504040204" pitchFamily="50" charset="-128"/>
                          <a:ea typeface="Meiryo UI" panose="020B0604030504040204" pitchFamily="50" charset="-128"/>
                        </a:rPr>
                        <a:t>部署登録のテストケース</a:t>
                      </a:r>
                    </a:p>
                  </a:txBody>
                  <a:tcPr marL="3804" marR="3804" marT="38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1100" b="0" i="0" u="none" strike="noStrike">
                          <a:solidFill>
                            <a:srgbClr val="404040"/>
                          </a:solidFill>
                          <a:effectLst/>
                          <a:latin typeface="Meiryo UI" panose="020B0604030504040204" pitchFamily="50" charset="-128"/>
                          <a:ea typeface="Meiryo UI" panose="020B0604030504040204" pitchFamily="50" charset="-128"/>
                        </a:rPr>
                        <a:t>従業員と部署一覧のクラス図</a:t>
                      </a:r>
                      <a:br>
                        <a:rPr lang="ja-JP" altLang="en-US" sz="1100" b="0" i="0" u="none" strike="noStrike">
                          <a:solidFill>
                            <a:srgbClr val="404040"/>
                          </a:solidFill>
                          <a:effectLst/>
                          <a:latin typeface="Meiryo UI" panose="020B0604030504040204" pitchFamily="50" charset="-128"/>
                          <a:ea typeface="Meiryo UI" panose="020B0604030504040204" pitchFamily="50" charset="-128"/>
                        </a:rPr>
                      </a:br>
                      <a:r>
                        <a:rPr lang="ja-JP" altLang="en-US" sz="1100" b="0" i="0" u="none" strike="noStrike">
                          <a:solidFill>
                            <a:srgbClr val="404040"/>
                          </a:solidFill>
                          <a:effectLst/>
                          <a:latin typeface="Meiryo UI" panose="020B0604030504040204" pitchFamily="50" charset="-128"/>
                          <a:ea typeface="Meiryo UI" panose="020B0604030504040204" pitchFamily="50" charset="-128"/>
                        </a:rPr>
                        <a:t>従業員と部署一覧のシーケンス図</a:t>
                      </a:r>
                      <a:br>
                        <a:rPr lang="ja-JP" altLang="en-US" sz="1100" b="0" i="0" u="none" strike="noStrike">
                          <a:solidFill>
                            <a:srgbClr val="404040"/>
                          </a:solidFill>
                          <a:effectLst/>
                          <a:latin typeface="Meiryo UI" panose="020B0604030504040204" pitchFamily="50" charset="-128"/>
                          <a:ea typeface="Meiryo UI" panose="020B0604030504040204" pitchFamily="50" charset="-128"/>
                        </a:rPr>
                      </a:br>
                      <a:r>
                        <a:rPr lang="ja-JP" altLang="en-US" sz="1100" b="0" i="0" u="none" strike="noStrike">
                          <a:solidFill>
                            <a:srgbClr val="404040"/>
                          </a:solidFill>
                          <a:effectLst/>
                          <a:latin typeface="Meiryo UI" panose="020B0604030504040204" pitchFamily="50" charset="-128"/>
                          <a:ea typeface="Meiryo UI" panose="020B0604030504040204" pitchFamily="50" charset="-128"/>
                        </a:rPr>
                        <a:t>従業員と部署のテストケース</a:t>
                      </a:r>
                    </a:p>
                  </a:txBody>
                  <a:tcPr marL="3804" marR="3804" marT="38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306010397"/>
                  </a:ext>
                </a:extLst>
              </a:tr>
              <a:tr h="711200">
                <a:tc>
                  <a:txBody>
                    <a:bodyPr/>
                    <a:lstStyle/>
                    <a:p>
                      <a:pPr algn="l" fontAlgn="t">
                        <a:buNone/>
                      </a:pPr>
                      <a:r>
                        <a:rPr lang="ja-JP" altLang="en-US" sz="1100" b="0" i="0" u="none" strike="noStrike">
                          <a:solidFill>
                            <a:srgbClr val="404040"/>
                          </a:solidFill>
                          <a:effectLst/>
                          <a:latin typeface="Meiryo UI" panose="020B0604030504040204" pitchFamily="50" charset="-128"/>
                          <a:ea typeface="Meiryo UI" panose="020B0604030504040204" pitchFamily="50" charset="-128"/>
                        </a:rPr>
                        <a:t>午後</a:t>
                      </a:r>
                    </a:p>
                  </a:txBody>
                  <a:tcPr marL="3804" marR="3804" marT="38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ja-JP" altLang="en-US" sz="1100" b="0" i="0" u="none" strike="noStrike">
                          <a:solidFill>
                            <a:srgbClr val="404040"/>
                          </a:solidFill>
                          <a:effectLst/>
                          <a:latin typeface="Meiryo UI" panose="020B0604030504040204" pitchFamily="50" charset="-128"/>
                          <a:ea typeface="Meiryo UI" panose="020B0604030504040204" pitchFamily="50" charset="-128"/>
                        </a:rPr>
                        <a:t>　</a:t>
                      </a:r>
                    </a:p>
                  </a:txBody>
                  <a:tcPr marL="3804" marR="3804" marT="38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ja-JP" altLang="en-US" sz="1100" b="0" i="0" u="none" strike="noStrike" dirty="0">
                          <a:solidFill>
                            <a:srgbClr val="404040"/>
                          </a:solidFill>
                          <a:effectLst/>
                          <a:latin typeface="Meiryo UI" panose="020B0604030504040204" pitchFamily="50" charset="-128"/>
                          <a:ea typeface="Meiryo UI" panose="020B0604030504040204" pitchFamily="50" charset="-128"/>
                        </a:rPr>
                        <a:t>　</a:t>
                      </a:r>
                    </a:p>
                  </a:txBody>
                  <a:tcPr marL="3804" marR="3804" marT="38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ja-JP" altLang="en-US" sz="1100" b="0" i="0" u="none" strike="noStrike" dirty="0">
                          <a:solidFill>
                            <a:srgbClr val="404040"/>
                          </a:solidFill>
                          <a:effectLst/>
                          <a:latin typeface="Meiryo UI" panose="020B0604030504040204" pitchFamily="50" charset="-128"/>
                          <a:ea typeface="Meiryo UI" panose="020B0604030504040204" pitchFamily="50" charset="-128"/>
                        </a:rPr>
                        <a:t>部署登録のクラス図</a:t>
                      </a:r>
                      <a:br>
                        <a:rPr lang="ja-JP" altLang="en-US" sz="1100" b="0" i="0" u="none" strike="noStrike" dirty="0">
                          <a:solidFill>
                            <a:srgbClr val="404040"/>
                          </a:solidFill>
                          <a:effectLst/>
                          <a:latin typeface="Meiryo UI" panose="020B0604030504040204" pitchFamily="50" charset="-128"/>
                          <a:ea typeface="Meiryo UI" panose="020B0604030504040204" pitchFamily="50" charset="-128"/>
                        </a:rPr>
                      </a:br>
                      <a:r>
                        <a:rPr lang="ja-JP" altLang="en-US" sz="1100" b="0" i="0" u="none" strike="noStrike" dirty="0">
                          <a:solidFill>
                            <a:srgbClr val="404040"/>
                          </a:solidFill>
                          <a:effectLst/>
                          <a:latin typeface="Meiryo UI" panose="020B0604030504040204" pitchFamily="50" charset="-128"/>
                          <a:ea typeface="Meiryo UI" panose="020B0604030504040204" pitchFamily="50" charset="-128"/>
                        </a:rPr>
                        <a:t>部署登録のシーケンス図</a:t>
                      </a:r>
                    </a:p>
                  </a:txBody>
                  <a:tcPr marL="3804" marR="3804" marT="38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zh-TW" altLang="en-US" sz="1100" b="0" i="0" u="none" strike="noStrike" dirty="0">
                          <a:solidFill>
                            <a:srgbClr val="404040"/>
                          </a:solidFill>
                          <a:effectLst/>
                          <a:latin typeface="Meiryo UI" panose="020B0604030504040204" pitchFamily="50" charset="-128"/>
                          <a:ea typeface="Meiryo UI" panose="020B0604030504040204" pitchFamily="50" charset="-128"/>
                        </a:rPr>
                        <a:t>従業員登録</a:t>
                      </a:r>
                      <a:br>
                        <a:rPr lang="zh-TW" altLang="en-US" sz="1100" b="0" i="0" u="none" strike="noStrike" dirty="0">
                          <a:solidFill>
                            <a:srgbClr val="404040"/>
                          </a:solidFill>
                          <a:effectLst/>
                          <a:latin typeface="Meiryo UI" panose="020B0604030504040204" pitchFamily="50" charset="-128"/>
                          <a:ea typeface="Meiryo UI" panose="020B0604030504040204" pitchFamily="50" charset="-128"/>
                        </a:rPr>
                      </a:br>
                      <a:r>
                        <a:rPr lang="zh-TW" altLang="en-US" sz="1100" b="0" i="0" u="none" strike="noStrike" dirty="0">
                          <a:solidFill>
                            <a:srgbClr val="404040"/>
                          </a:solidFill>
                          <a:effectLst/>
                          <a:latin typeface="Meiryo UI" panose="020B0604030504040204" pitchFamily="50" charset="-128"/>
                          <a:ea typeface="Meiryo UI" panose="020B0604030504040204" pitchFamily="50" charset="-128"/>
                        </a:rPr>
                        <a:t>部署登録</a:t>
                      </a:r>
                    </a:p>
                  </a:txBody>
                  <a:tcPr marL="3804" marR="3804" marT="38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zh-TW" altLang="en-US" sz="1100" b="0" i="0" u="none" strike="noStrike" dirty="0">
                          <a:solidFill>
                            <a:srgbClr val="404040"/>
                          </a:solidFill>
                          <a:effectLst/>
                          <a:latin typeface="Meiryo UI" panose="020B0604030504040204" pitchFamily="50" charset="-128"/>
                          <a:ea typeface="Meiryo UI" panose="020B0604030504040204" pitchFamily="50" charset="-128"/>
                        </a:rPr>
                        <a:t>従業員一覧　</a:t>
                      </a:r>
                      <a:br>
                        <a:rPr lang="zh-TW" altLang="en-US" sz="1100" b="0" i="0" u="none" strike="noStrike" dirty="0">
                          <a:solidFill>
                            <a:srgbClr val="404040"/>
                          </a:solidFill>
                          <a:effectLst/>
                          <a:latin typeface="Meiryo UI" panose="020B0604030504040204" pitchFamily="50" charset="-128"/>
                          <a:ea typeface="Meiryo UI" panose="020B0604030504040204" pitchFamily="50" charset="-128"/>
                        </a:rPr>
                      </a:br>
                      <a:r>
                        <a:rPr lang="zh-TW" altLang="en-US" sz="1100" b="0" i="0" u="none" strike="noStrike" dirty="0">
                          <a:solidFill>
                            <a:srgbClr val="404040"/>
                          </a:solidFill>
                          <a:effectLst/>
                          <a:latin typeface="Meiryo UI" panose="020B0604030504040204" pitchFamily="50" charset="-128"/>
                          <a:ea typeface="Meiryo UI" panose="020B0604030504040204" pitchFamily="50" charset="-128"/>
                        </a:rPr>
                        <a:t>部署一覧</a:t>
                      </a:r>
                    </a:p>
                  </a:txBody>
                  <a:tcPr marL="3804" marR="3804" marT="38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763134884"/>
                  </a:ext>
                </a:extLst>
              </a:tr>
              <a:tr h="305343">
                <a:tc>
                  <a:txBody>
                    <a:bodyPr/>
                    <a:lstStyle/>
                    <a:p>
                      <a:pPr algn="l" fontAlgn="t">
                        <a:buNone/>
                      </a:pPr>
                      <a:r>
                        <a:rPr lang="ja-JP" altLang="en-US" sz="1100" b="0" i="0" u="none" strike="noStrike" dirty="0">
                          <a:solidFill>
                            <a:srgbClr val="404040"/>
                          </a:solidFill>
                          <a:effectLst/>
                          <a:latin typeface="Meiryo UI" panose="020B0604030504040204" pitchFamily="50" charset="-128"/>
                          <a:ea typeface="Meiryo UI" panose="020B0604030504040204" pitchFamily="50" charset="-128"/>
                        </a:rPr>
                        <a:t>日付</a:t>
                      </a:r>
                    </a:p>
                  </a:txBody>
                  <a:tcPr marL="3804" marR="3804" marT="38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ja-JP" altLang="en-US" sz="1100" b="0" i="0" u="none" strike="noStrike">
                          <a:solidFill>
                            <a:srgbClr val="404040"/>
                          </a:solidFill>
                          <a:effectLst/>
                          <a:latin typeface="Meiryo UI" panose="020B0604030504040204" pitchFamily="50" charset="-128"/>
                          <a:ea typeface="Meiryo UI" panose="020B0604030504040204" pitchFamily="50" charset="-128"/>
                        </a:rPr>
                        <a:t>２５日</a:t>
                      </a:r>
                    </a:p>
                  </a:txBody>
                  <a:tcPr marL="3804" marR="3804" marT="38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2A39F"/>
                    </a:solidFill>
                  </a:tcPr>
                </a:tc>
                <a:tc>
                  <a:txBody>
                    <a:bodyPr/>
                    <a:lstStyle/>
                    <a:p>
                      <a:pPr algn="l" fontAlgn="t">
                        <a:buNone/>
                      </a:pPr>
                      <a:r>
                        <a:rPr lang="ja-JP" altLang="en-US" sz="1100" b="0" i="0" u="none" strike="noStrike" dirty="0">
                          <a:solidFill>
                            <a:srgbClr val="404040"/>
                          </a:solidFill>
                          <a:effectLst/>
                          <a:latin typeface="Meiryo UI" panose="020B0604030504040204" pitchFamily="50" charset="-128"/>
                          <a:ea typeface="Meiryo UI" panose="020B0604030504040204" pitchFamily="50" charset="-128"/>
                        </a:rPr>
                        <a:t>２６日</a:t>
                      </a:r>
                    </a:p>
                  </a:txBody>
                  <a:tcPr marL="3804" marR="3804" marT="38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2A39F"/>
                    </a:solidFill>
                  </a:tcPr>
                </a:tc>
                <a:tc>
                  <a:txBody>
                    <a:bodyPr/>
                    <a:lstStyle/>
                    <a:p>
                      <a:pPr algn="l" fontAlgn="t">
                        <a:buNone/>
                      </a:pPr>
                      <a:r>
                        <a:rPr lang="ja-JP" altLang="en-US" sz="1100" b="0" i="0" u="none" strike="noStrike">
                          <a:solidFill>
                            <a:srgbClr val="404040"/>
                          </a:solidFill>
                          <a:effectLst/>
                          <a:latin typeface="Meiryo UI" panose="020B0604030504040204" pitchFamily="50" charset="-128"/>
                          <a:ea typeface="Meiryo UI" panose="020B0604030504040204" pitchFamily="50" charset="-128"/>
                        </a:rPr>
                        <a:t>２７日</a:t>
                      </a:r>
                    </a:p>
                  </a:txBody>
                  <a:tcPr marL="3804" marR="3804" marT="38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2A39F"/>
                    </a:solidFill>
                  </a:tcPr>
                </a:tc>
                <a:tc>
                  <a:txBody>
                    <a:bodyPr/>
                    <a:lstStyle/>
                    <a:p>
                      <a:pPr algn="l" fontAlgn="t">
                        <a:buNone/>
                      </a:pPr>
                      <a:r>
                        <a:rPr lang="ja-JP" altLang="en-US" sz="1100" b="0" i="0" u="none" strike="noStrike">
                          <a:solidFill>
                            <a:srgbClr val="404040"/>
                          </a:solidFill>
                          <a:effectLst/>
                          <a:latin typeface="Meiryo UI" panose="020B0604030504040204" pitchFamily="50" charset="-128"/>
                          <a:ea typeface="Meiryo UI" panose="020B0604030504040204" pitchFamily="50" charset="-128"/>
                        </a:rPr>
                        <a:t>２８日</a:t>
                      </a:r>
                    </a:p>
                  </a:txBody>
                  <a:tcPr marL="3804" marR="3804" marT="38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2A39F"/>
                    </a:solidFill>
                  </a:tcPr>
                </a:tc>
                <a:tc>
                  <a:txBody>
                    <a:bodyPr/>
                    <a:lstStyle/>
                    <a:p>
                      <a:pPr algn="l" fontAlgn="t">
                        <a:buNone/>
                      </a:pPr>
                      <a:r>
                        <a:rPr lang="ja-JP" altLang="en-US" sz="1100" b="0" i="0" u="none" strike="noStrike" dirty="0">
                          <a:solidFill>
                            <a:srgbClr val="404040"/>
                          </a:solidFill>
                          <a:effectLst/>
                          <a:latin typeface="Meiryo UI" panose="020B0604030504040204" pitchFamily="50" charset="-128"/>
                          <a:ea typeface="Meiryo UI" panose="020B0604030504040204" pitchFamily="50" charset="-128"/>
                        </a:rPr>
                        <a:t>　</a:t>
                      </a:r>
                    </a:p>
                  </a:txBody>
                  <a:tcPr marL="3804" marR="3804" marT="38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2A39F"/>
                    </a:solidFill>
                  </a:tcPr>
                </a:tc>
                <a:extLst>
                  <a:ext uri="{0D108BD9-81ED-4DB2-BD59-A6C34878D82A}">
                    <a16:rowId xmlns:a16="http://schemas.microsoft.com/office/drawing/2014/main" val="1346142864"/>
                  </a:ext>
                </a:extLst>
              </a:tr>
              <a:tr h="610855">
                <a:tc>
                  <a:txBody>
                    <a:bodyPr/>
                    <a:lstStyle/>
                    <a:p>
                      <a:pPr algn="l" fontAlgn="t">
                        <a:buNone/>
                      </a:pPr>
                      <a:r>
                        <a:rPr lang="ja-JP" altLang="en-US" sz="1100" b="0" i="0" u="none" strike="noStrike">
                          <a:solidFill>
                            <a:srgbClr val="404040"/>
                          </a:solidFill>
                          <a:effectLst/>
                          <a:latin typeface="Meiryo UI" panose="020B0604030504040204" pitchFamily="50" charset="-128"/>
                          <a:ea typeface="Meiryo UI" panose="020B0604030504040204" pitchFamily="50" charset="-128"/>
                        </a:rPr>
                        <a:t>午前</a:t>
                      </a:r>
                    </a:p>
                  </a:txBody>
                  <a:tcPr marL="3804" marR="3804" marT="38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altLang="ja-JP" sz="1100" b="0" i="0" u="none" strike="noStrike" dirty="0">
                          <a:solidFill>
                            <a:srgbClr val="FF0000"/>
                          </a:solidFill>
                          <a:effectLst/>
                          <a:latin typeface="Meiryo UI" panose="020B0604030504040204" pitchFamily="50" charset="-128"/>
                          <a:ea typeface="Meiryo UI" panose="020B0604030504040204" pitchFamily="50" charset="-128"/>
                        </a:rPr>
                        <a:t>New </a:t>
                      </a:r>
                      <a:r>
                        <a:rPr lang="ja-JP" altLang="en-US" sz="1100" b="0" i="0" u="none" strike="noStrike" dirty="0">
                          <a:solidFill>
                            <a:srgbClr val="FF0000"/>
                          </a:solidFill>
                          <a:effectLst/>
                          <a:latin typeface="Meiryo UI" panose="020B0604030504040204" pitchFamily="50" charset="-128"/>
                          <a:ea typeface="Meiryo UI" panose="020B0604030504040204" pitchFamily="50" charset="-128"/>
                        </a:rPr>
                        <a:t>登録、一覧のホワイトボックステスト</a:t>
                      </a:r>
                    </a:p>
                  </a:txBody>
                  <a:tcPr marL="3804" marR="3804" marT="38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zh-TW" altLang="en-US" sz="1100" b="0" i="0" u="none" strike="noStrike" dirty="0">
                          <a:solidFill>
                            <a:srgbClr val="404040"/>
                          </a:solidFill>
                          <a:effectLst/>
                          <a:latin typeface="Meiryo UI" panose="020B0604030504040204" pitchFamily="50" charset="-128"/>
                          <a:ea typeface="Meiryo UI" panose="020B0604030504040204" pitchFamily="50" charset="-128"/>
                        </a:rPr>
                        <a:t>社員削除</a:t>
                      </a:r>
                      <a:br>
                        <a:rPr lang="zh-TW" altLang="en-US" sz="1100" b="0" i="0" u="none" strike="noStrike" dirty="0">
                          <a:solidFill>
                            <a:srgbClr val="404040"/>
                          </a:solidFill>
                          <a:effectLst/>
                          <a:latin typeface="Meiryo UI" panose="020B0604030504040204" pitchFamily="50" charset="-128"/>
                          <a:ea typeface="Meiryo UI" panose="020B0604030504040204" pitchFamily="50" charset="-128"/>
                        </a:rPr>
                      </a:br>
                      <a:r>
                        <a:rPr lang="zh-TW" altLang="en-US" sz="1100" b="0" i="0" u="none" strike="noStrike" dirty="0">
                          <a:solidFill>
                            <a:srgbClr val="404040"/>
                          </a:solidFill>
                          <a:effectLst/>
                          <a:latin typeface="Meiryo UI" panose="020B0604030504040204" pitchFamily="50" charset="-128"/>
                          <a:ea typeface="Meiryo UI" panose="020B0604030504040204" pitchFamily="50" charset="-128"/>
                        </a:rPr>
                        <a:t>部署削除</a:t>
                      </a:r>
                    </a:p>
                  </a:txBody>
                  <a:tcPr marL="3804" marR="3804" marT="38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1100" b="0" i="0" u="none" strike="noStrike">
                          <a:solidFill>
                            <a:srgbClr val="404040"/>
                          </a:solidFill>
                          <a:effectLst/>
                          <a:latin typeface="Meiryo UI" panose="020B0604030504040204" pitchFamily="50" charset="-128"/>
                          <a:ea typeface="Meiryo UI" panose="020B0604030504040204" pitchFamily="50" charset="-128"/>
                        </a:rPr>
                        <a:t>見た目の改善</a:t>
                      </a:r>
                    </a:p>
                  </a:txBody>
                  <a:tcPr marL="3804" marR="3804" marT="38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1100" b="0" i="0" u="none" strike="noStrike">
                          <a:solidFill>
                            <a:srgbClr val="404040"/>
                          </a:solidFill>
                          <a:effectLst/>
                          <a:latin typeface="Meiryo UI" panose="020B0604030504040204" pitchFamily="50" charset="-128"/>
                          <a:ea typeface="Meiryo UI" panose="020B0604030504040204" pitchFamily="50" charset="-128"/>
                        </a:rPr>
                        <a:t>発表資料の作成</a:t>
                      </a:r>
                    </a:p>
                  </a:txBody>
                  <a:tcPr marL="3804" marR="3804" marT="38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ja-JP" altLang="en-US" sz="1100" b="0" i="0" u="none" strike="noStrike">
                          <a:solidFill>
                            <a:srgbClr val="404040"/>
                          </a:solidFill>
                          <a:effectLst/>
                          <a:latin typeface="Meiryo UI" panose="020B0604030504040204" pitchFamily="50" charset="-128"/>
                          <a:ea typeface="Meiryo UI" panose="020B0604030504040204" pitchFamily="50" charset="-128"/>
                        </a:rPr>
                        <a:t>　</a:t>
                      </a:r>
                    </a:p>
                  </a:txBody>
                  <a:tcPr marL="3804" marR="3804" marT="38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11218310"/>
                  </a:ext>
                </a:extLst>
              </a:tr>
              <a:tr h="863600">
                <a:tc>
                  <a:txBody>
                    <a:bodyPr/>
                    <a:lstStyle/>
                    <a:p>
                      <a:pPr algn="l" fontAlgn="t">
                        <a:buNone/>
                      </a:pPr>
                      <a:r>
                        <a:rPr lang="ja-JP" altLang="en-US" sz="1100" b="0" i="0" u="none" strike="noStrike" dirty="0">
                          <a:solidFill>
                            <a:srgbClr val="404040"/>
                          </a:solidFill>
                          <a:effectLst/>
                          <a:latin typeface="Meiryo UI" panose="020B0604030504040204" pitchFamily="50" charset="-128"/>
                          <a:ea typeface="Meiryo UI" panose="020B0604030504040204" pitchFamily="50" charset="-128"/>
                        </a:rPr>
                        <a:t>午後</a:t>
                      </a:r>
                    </a:p>
                  </a:txBody>
                  <a:tcPr marL="3804" marR="3804" marT="38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ja-JP" altLang="en-US" sz="1100" b="0" i="0" u="none" strike="noStrike" dirty="0">
                          <a:solidFill>
                            <a:srgbClr val="404040"/>
                          </a:solidFill>
                          <a:effectLst/>
                          <a:latin typeface="Meiryo UI" panose="020B0604030504040204" pitchFamily="50" charset="-128"/>
                          <a:ea typeface="Meiryo UI" panose="020B0604030504040204" pitchFamily="50" charset="-128"/>
                        </a:rPr>
                        <a:t>従業員と部署削除のクラス図</a:t>
                      </a:r>
                      <a:br>
                        <a:rPr lang="ja-JP" altLang="en-US" sz="1100" b="0" i="0" u="none" strike="noStrike" dirty="0">
                          <a:solidFill>
                            <a:srgbClr val="404040"/>
                          </a:solidFill>
                          <a:effectLst/>
                          <a:latin typeface="Meiryo UI" panose="020B0604030504040204" pitchFamily="50" charset="-128"/>
                          <a:ea typeface="Meiryo UI" panose="020B0604030504040204" pitchFamily="50" charset="-128"/>
                        </a:rPr>
                      </a:br>
                      <a:r>
                        <a:rPr lang="ja-JP" altLang="en-US" sz="1100" b="0" i="0" u="none" strike="noStrike" dirty="0">
                          <a:solidFill>
                            <a:srgbClr val="404040"/>
                          </a:solidFill>
                          <a:effectLst/>
                          <a:latin typeface="Meiryo UI" panose="020B0604030504040204" pitchFamily="50" charset="-128"/>
                          <a:ea typeface="Meiryo UI" panose="020B0604030504040204" pitchFamily="50" charset="-128"/>
                        </a:rPr>
                        <a:t>従業員と部署削除のシーケンス図</a:t>
                      </a:r>
                      <a:br>
                        <a:rPr lang="ja-JP" altLang="en-US" sz="1100" b="0" i="0" u="none" strike="noStrike" dirty="0">
                          <a:solidFill>
                            <a:srgbClr val="404040"/>
                          </a:solidFill>
                          <a:effectLst/>
                          <a:latin typeface="Meiryo UI" panose="020B0604030504040204" pitchFamily="50" charset="-128"/>
                          <a:ea typeface="Meiryo UI" panose="020B0604030504040204" pitchFamily="50" charset="-128"/>
                        </a:rPr>
                      </a:br>
                      <a:r>
                        <a:rPr lang="ja-JP" altLang="en-US" sz="1100" b="0" i="0" u="none" strike="noStrike" dirty="0">
                          <a:solidFill>
                            <a:srgbClr val="404040"/>
                          </a:solidFill>
                          <a:effectLst/>
                          <a:latin typeface="Meiryo UI" panose="020B0604030504040204" pitchFamily="50" charset="-128"/>
                          <a:ea typeface="Meiryo UI" panose="020B0604030504040204" pitchFamily="50" charset="-128"/>
                        </a:rPr>
                        <a:t>従業員と部署削除のテストケース</a:t>
                      </a:r>
                    </a:p>
                  </a:txBody>
                  <a:tcPr marL="3804" marR="3804" marT="38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en-US" altLang="ja-JP" sz="1100" b="0" i="0" u="none" strike="noStrike" dirty="0">
                          <a:solidFill>
                            <a:srgbClr val="FF0000"/>
                          </a:solidFill>
                          <a:effectLst/>
                          <a:latin typeface="Meiryo UI" panose="020B0604030504040204" pitchFamily="50" charset="-128"/>
                          <a:ea typeface="Meiryo UI" panose="020B0604030504040204" pitchFamily="50" charset="-128"/>
                        </a:rPr>
                        <a:t>New</a:t>
                      </a:r>
                      <a:r>
                        <a:rPr lang="ja-JP" altLang="en-US" sz="1100" b="0" i="0" u="none" strike="noStrike" dirty="0">
                          <a:solidFill>
                            <a:srgbClr val="FF0000"/>
                          </a:solidFill>
                          <a:effectLst/>
                          <a:latin typeface="Meiryo UI" panose="020B0604030504040204" pitchFamily="50" charset="-128"/>
                          <a:ea typeface="Meiryo UI" panose="020B0604030504040204" pitchFamily="50" charset="-128"/>
                        </a:rPr>
                        <a:t>　削除のホワイトボックステスト</a:t>
                      </a:r>
                      <a:br>
                        <a:rPr lang="ja-JP" altLang="en-US" sz="1100" b="0" i="0" u="none" strike="noStrike" dirty="0">
                          <a:solidFill>
                            <a:srgbClr val="FF0000"/>
                          </a:solidFill>
                          <a:effectLst/>
                          <a:latin typeface="Meiryo UI" panose="020B0604030504040204" pitchFamily="50" charset="-128"/>
                          <a:ea typeface="Meiryo UI" panose="020B0604030504040204" pitchFamily="50" charset="-128"/>
                        </a:rPr>
                      </a:br>
                      <a:r>
                        <a:rPr lang="en-US" altLang="ja-JP" sz="1100" b="0" i="0" u="none" strike="noStrike" dirty="0">
                          <a:solidFill>
                            <a:srgbClr val="FF0000"/>
                          </a:solidFill>
                          <a:effectLst/>
                          <a:latin typeface="Meiryo UI" panose="020B0604030504040204" pitchFamily="50" charset="-128"/>
                          <a:ea typeface="Meiryo UI" panose="020B0604030504040204" pitchFamily="50" charset="-128"/>
                        </a:rPr>
                        <a:t>New</a:t>
                      </a:r>
                      <a:r>
                        <a:rPr lang="ja-JP" altLang="en-US" sz="1100" b="0" i="0" u="none" strike="noStrike" dirty="0">
                          <a:solidFill>
                            <a:srgbClr val="FF0000"/>
                          </a:solidFill>
                          <a:effectLst/>
                          <a:latin typeface="Meiryo UI" panose="020B0604030504040204" pitchFamily="50" charset="-128"/>
                          <a:ea typeface="Meiryo UI" panose="020B0604030504040204" pitchFamily="50" charset="-128"/>
                        </a:rPr>
                        <a:t>　カバレッジレポート</a:t>
                      </a:r>
                      <a:r>
                        <a:rPr lang="en-US" altLang="ja-JP" sz="1100" b="0" i="0" u="none" strike="noStrike" dirty="0">
                          <a:solidFill>
                            <a:srgbClr val="FF0000"/>
                          </a:solidFill>
                          <a:effectLst/>
                          <a:latin typeface="Meiryo UI" panose="020B0604030504040204" pitchFamily="50" charset="-128"/>
                          <a:ea typeface="Meiryo UI" panose="020B0604030504040204" pitchFamily="50" charset="-128"/>
                        </a:rPr>
                        <a:t>100%</a:t>
                      </a:r>
                      <a:r>
                        <a:rPr lang="ja-JP" altLang="en-US" sz="1100" b="0" i="0" u="none" strike="noStrike" dirty="0">
                          <a:solidFill>
                            <a:srgbClr val="FF0000"/>
                          </a:solidFill>
                          <a:effectLst/>
                          <a:latin typeface="Meiryo UI" panose="020B0604030504040204" pitchFamily="50" charset="-128"/>
                          <a:ea typeface="Meiryo UI" panose="020B0604030504040204" pitchFamily="50" charset="-128"/>
                        </a:rPr>
                        <a:t>を目指す</a:t>
                      </a:r>
                      <a:endParaRPr lang="en-US" altLang="ja-JP" sz="1100" b="0" i="0" u="none" strike="noStrike" dirty="0">
                        <a:solidFill>
                          <a:srgbClr val="FF0000"/>
                        </a:solidFill>
                        <a:effectLst/>
                        <a:latin typeface="Meiryo UI" panose="020B0604030504040204" pitchFamily="50" charset="-128"/>
                        <a:ea typeface="Meiryo UI" panose="020B0604030504040204" pitchFamily="50" charset="-128"/>
                      </a:endParaRPr>
                    </a:p>
                    <a:p>
                      <a:pPr algn="l" fontAlgn="t">
                        <a:buNone/>
                      </a:pPr>
                      <a:endParaRPr lang="en-US" altLang="ja-JP" sz="1100" b="0" i="0" u="none" strike="noStrike" dirty="0">
                        <a:solidFill>
                          <a:srgbClr val="C00000"/>
                        </a:solidFill>
                        <a:effectLst/>
                        <a:latin typeface="Meiryo UI" panose="020B0604030504040204" pitchFamily="50" charset="-128"/>
                        <a:ea typeface="Meiryo UI" panose="020B0604030504040204" pitchFamily="50" charset="-128"/>
                      </a:endParaRPr>
                    </a:p>
                    <a:p>
                      <a:pPr algn="l" fontAlgn="t">
                        <a:buNone/>
                      </a:pPr>
                      <a:r>
                        <a:rPr lang="ja-JP" altLang="en-US" sz="1100" b="0" i="0" u="none" strike="sngStrike" dirty="0">
                          <a:solidFill>
                            <a:schemeClr val="accent4"/>
                          </a:solidFill>
                          <a:effectLst/>
                          <a:latin typeface="Meiryo UI" panose="020B0604030504040204" pitchFamily="50" charset="-128"/>
                          <a:ea typeface="Meiryo UI" panose="020B0604030504040204" pitchFamily="50" charset="-128"/>
                        </a:rPr>
                        <a:t>更新機能</a:t>
                      </a:r>
                    </a:p>
                  </a:txBody>
                  <a:tcPr marL="3804" marR="3804" marT="38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1100" b="0" i="0" u="none" strike="noStrike" dirty="0">
                          <a:solidFill>
                            <a:srgbClr val="404040"/>
                          </a:solidFill>
                          <a:effectLst/>
                          <a:latin typeface="Meiryo UI" panose="020B0604030504040204" pitchFamily="50" charset="-128"/>
                          <a:ea typeface="Meiryo UI" panose="020B0604030504040204" pitchFamily="50" charset="-128"/>
                        </a:rPr>
                        <a:t>コードの修正</a:t>
                      </a:r>
                    </a:p>
                  </a:txBody>
                  <a:tcPr marL="3804" marR="3804" marT="38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1100" b="0" i="0" u="none" strike="noStrike" dirty="0">
                          <a:solidFill>
                            <a:srgbClr val="404040"/>
                          </a:solidFill>
                          <a:effectLst/>
                          <a:latin typeface="Meiryo UI" panose="020B0604030504040204" pitchFamily="50" charset="-128"/>
                          <a:ea typeface="Meiryo UI" panose="020B0604030504040204" pitchFamily="50" charset="-128"/>
                        </a:rPr>
                        <a:t>発表資料の作成</a:t>
                      </a:r>
                    </a:p>
                  </a:txBody>
                  <a:tcPr marL="3804" marR="3804" marT="38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ja-JP" altLang="en-US" sz="1100" b="0" i="0" u="none" strike="noStrike" dirty="0">
                          <a:solidFill>
                            <a:srgbClr val="404040"/>
                          </a:solidFill>
                          <a:effectLst/>
                          <a:latin typeface="Meiryo UI" panose="020B0604030504040204" pitchFamily="50" charset="-128"/>
                          <a:ea typeface="Meiryo UI" panose="020B0604030504040204" pitchFamily="50" charset="-128"/>
                        </a:rPr>
                        <a:t>　</a:t>
                      </a:r>
                    </a:p>
                  </a:txBody>
                  <a:tcPr marL="3804" marR="3804" marT="38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4912611"/>
                  </a:ext>
                </a:extLst>
              </a:tr>
            </a:tbl>
          </a:graphicData>
        </a:graphic>
      </p:graphicFrame>
      <p:sp>
        <p:nvSpPr>
          <p:cNvPr id="9" name="テキスト ボックス 8">
            <a:extLst>
              <a:ext uri="{FF2B5EF4-FFF2-40B4-BE49-F238E27FC236}">
                <a16:creationId xmlns:a16="http://schemas.microsoft.com/office/drawing/2014/main" id="{2733ECDC-1A99-2FAC-48FE-1DEC17EF6EC1}"/>
              </a:ext>
            </a:extLst>
          </p:cNvPr>
          <p:cNvSpPr txBox="1"/>
          <p:nvPr/>
        </p:nvSpPr>
        <p:spPr>
          <a:xfrm>
            <a:off x="605928" y="403684"/>
            <a:ext cx="12360925" cy="2308324"/>
          </a:xfrm>
          <a:prstGeom prst="rect">
            <a:avLst/>
          </a:prstGeom>
          <a:noFill/>
        </p:spPr>
        <p:txBody>
          <a:bodyPr wrap="square">
            <a:spAutoFit/>
          </a:bodyPr>
          <a:lstStyle/>
          <a:p>
            <a:r>
              <a:rPr lang="ja-JP" altLang="en-US" sz="2400" dirty="0"/>
              <a:t>実際の進捗</a:t>
            </a:r>
            <a:endParaRPr lang="en-US" altLang="ja-JP" sz="2400" dirty="0"/>
          </a:p>
          <a:p>
            <a:pPr marL="285750" indent="-285750">
              <a:buFont typeface="Arial" panose="020B0604020202020204" pitchFamily="34" charset="0"/>
              <a:buChar char="•"/>
            </a:pPr>
            <a:r>
              <a:rPr lang="ja-JP" altLang="en-US" sz="2400" dirty="0"/>
              <a:t>更新機能を諦めた。</a:t>
            </a:r>
            <a:endParaRPr lang="en-US" altLang="ja-JP" sz="2400" dirty="0"/>
          </a:p>
          <a:p>
            <a:endParaRPr lang="en-US" altLang="ja-JP" sz="2400" dirty="0"/>
          </a:p>
          <a:p>
            <a:r>
              <a:rPr lang="ja-JP" altLang="en-US" sz="2400" dirty="0"/>
              <a:t>原因</a:t>
            </a:r>
            <a:endParaRPr lang="en-US" altLang="ja-JP" sz="2400" dirty="0"/>
          </a:p>
          <a:p>
            <a:pPr marL="285750" indent="-285750">
              <a:buFont typeface="Arial" panose="020B0604020202020204" pitchFamily="34" charset="0"/>
              <a:buChar char="•"/>
            </a:pPr>
            <a:r>
              <a:rPr lang="ja-JP" altLang="en-US" sz="2400" dirty="0"/>
              <a:t>ホワイトボックステストの</a:t>
            </a:r>
            <a:r>
              <a:rPr lang="en-US" altLang="ja-JP" sz="2400" dirty="0"/>
              <a:t>DB</a:t>
            </a:r>
            <a:r>
              <a:rPr lang="ja-JP" altLang="en-US" sz="2400" dirty="0"/>
              <a:t>操作や例外処理が難しく時間がかかってしまった。</a:t>
            </a:r>
            <a:endParaRPr lang="en-US" altLang="ja-JP" sz="2400" dirty="0"/>
          </a:p>
          <a:p>
            <a:pPr marL="285750" indent="-285750">
              <a:buFont typeface="Arial" panose="020B0604020202020204" pitchFamily="34" charset="0"/>
              <a:buChar char="•"/>
            </a:pPr>
            <a:r>
              <a:rPr lang="ja-JP" altLang="en-US" sz="2400" dirty="0"/>
              <a:t>カバレッジレポートを</a:t>
            </a:r>
            <a:r>
              <a:rPr lang="en-US" altLang="ja-JP" sz="2400" dirty="0"/>
              <a:t>100%</a:t>
            </a:r>
            <a:r>
              <a:rPr lang="ja-JP" altLang="en-US" sz="2400" dirty="0"/>
              <a:t>にした。</a:t>
            </a:r>
            <a:endParaRPr lang="en-US" altLang="ja-JP" sz="2400" dirty="0"/>
          </a:p>
        </p:txBody>
      </p:sp>
    </p:spTree>
    <p:extLst>
      <p:ext uri="{BB962C8B-B14F-4D97-AF65-F5344CB8AC3E}">
        <p14:creationId xmlns:p14="http://schemas.microsoft.com/office/powerpoint/2010/main" val="35669432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78E0849-AC57-1C10-0A6B-19A4C16D7FAC}"/>
              </a:ext>
            </a:extLst>
          </p:cNvPr>
          <p:cNvSpPr>
            <a:spLocks noGrp="1"/>
          </p:cNvSpPr>
          <p:nvPr>
            <p:ph type="title"/>
          </p:nvPr>
        </p:nvSpPr>
        <p:spPr>
          <a:xfrm>
            <a:off x="728032" y="106362"/>
            <a:ext cx="10515600" cy="1325563"/>
          </a:xfrm>
        </p:spPr>
        <p:txBody>
          <a:bodyPr/>
          <a:lstStyle/>
          <a:p>
            <a:r>
              <a:rPr lang="ja-JP" altLang="en-US" dirty="0">
                <a:solidFill>
                  <a:schemeClr val="accent5">
                    <a:lumMod val="75000"/>
                  </a:schemeClr>
                </a:solidFill>
              </a:rPr>
              <a:t>成果物の概要</a:t>
            </a:r>
            <a:endParaRPr kumimoji="1" lang="ja-JP" altLang="en-US" dirty="0">
              <a:solidFill>
                <a:schemeClr val="accent5">
                  <a:lumMod val="75000"/>
                </a:schemeClr>
              </a:solidFill>
            </a:endParaRPr>
          </a:p>
        </p:txBody>
      </p:sp>
      <p:sp>
        <p:nvSpPr>
          <p:cNvPr id="3" name="コンテンツ プレースホルダー 2">
            <a:extLst>
              <a:ext uri="{FF2B5EF4-FFF2-40B4-BE49-F238E27FC236}">
                <a16:creationId xmlns:a16="http://schemas.microsoft.com/office/drawing/2014/main" id="{A4C46F68-887B-F8DA-1F0E-5ACB4A4916D7}"/>
              </a:ext>
            </a:extLst>
          </p:cNvPr>
          <p:cNvSpPr>
            <a:spLocks noGrp="1"/>
          </p:cNvSpPr>
          <p:nvPr>
            <p:ph idx="1"/>
          </p:nvPr>
        </p:nvSpPr>
        <p:spPr>
          <a:xfrm>
            <a:off x="1502424" y="1253331"/>
            <a:ext cx="9187150" cy="4351338"/>
          </a:xfrm>
        </p:spPr>
        <p:txBody>
          <a:bodyPr/>
          <a:lstStyle/>
          <a:p>
            <a:r>
              <a:rPr kumimoji="1" lang="ja-JP" altLang="en-US" dirty="0"/>
              <a:t>従業員と部署それぞれ登録</a:t>
            </a:r>
            <a:r>
              <a:rPr lang="ja-JP" altLang="en-US" dirty="0"/>
              <a:t>・</a:t>
            </a:r>
            <a:r>
              <a:rPr kumimoji="1" lang="ja-JP" altLang="en-US" dirty="0"/>
              <a:t>削除・一覧</a:t>
            </a:r>
            <a:r>
              <a:rPr lang="ja-JP" altLang="en-US" dirty="0"/>
              <a:t>の３機能からなる</a:t>
            </a:r>
            <a:r>
              <a:rPr kumimoji="1" lang="ja-JP" altLang="en-US" dirty="0"/>
              <a:t>従業員管理システムの作成</a:t>
            </a:r>
            <a:endParaRPr kumimoji="1" lang="en-US" altLang="ja-JP" dirty="0"/>
          </a:p>
          <a:p>
            <a:r>
              <a:rPr lang="ja-JP" altLang="en-US" dirty="0"/>
              <a:t>ダークモードの対応</a:t>
            </a:r>
            <a:endParaRPr kumimoji="1" lang="en-US" altLang="ja-JP" dirty="0"/>
          </a:p>
        </p:txBody>
      </p:sp>
      <p:pic>
        <p:nvPicPr>
          <p:cNvPr id="5" name="図 4">
            <a:extLst>
              <a:ext uri="{FF2B5EF4-FFF2-40B4-BE49-F238E27FC236}">
                <a16:creationId xmlns:a16="http://schemas.microsoft.com/office/drawing/2014/main" id="{82E0E1F0-D79D-464A-AD5D-041434607BCA}"/>
              </a:ext>
            </a:extLst>
          </p:cNvPr>
          <p:cNvPicPr>
            <a:picLocks noChangeAspect="1"/>
          </p:cNvPicPr>
          <p:nvPr/>
        </p:nvPicPr>
        <p:blipFill>
          <a:blip r:embed="rId2"/>
          <a:stretch>
            <a:fillRect/>
          </a:stretch>
        </p:blipFill>
        <p:spPr>
          <a:xfrm>
            <a:off x="1940581" y="2704919"/>
            <a:ext cx="8310837" cy="4098314"/>
          </a:xfrm>
          <a:prstGeom prst="rect">
            <a:avLst/>
          </a:prstGeom>
        </p:spPr>
      </p:pic>
    </p:spTree>
    <p:extLst>
      <p:ext uri="{BB962C8B-B14F-4D97-AF65-F5344CB8AC3E}">
        <p14:creationId xmlns:p14="http://schemas.microsoft.com/office/powerpoint/2010/main" val="22424996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B198773-E897-A570-ABA6-D8C803ADC35E}"/>
              </a:ext>
            </a:extLst>
          </p:cNvPr>
          <p:cNvSpPr>
            <a:spLocks noGrp="1"/>
          </p:cNvSpPr>
          <p:nvPr>
            <p:ph type="title"/>
          </p:nvPr>
        </p:nvSpPr>
        <p:spPr/>
        <p:txBody>
          <a:bodyPr/>
          <a:lstStyle/>
          <a:p>
            <a:r>
              <a:rPr kumimoji="1" lang="ja-JP" altLang="en-US" dirty="0">
                <a:solidFill>
                  <a:schemeClr val="accent5">
                    <a:lumMod val="75000"/>
                  </a:schemeClr>
                </a:solidFill>
              </a:rPr>
              <a:t>従業員登録</a:t>
            </a:r>
          </a:p>
        </p:txBody>
      </p:sp>
      <p:sp>
        <p:nvSpPr>
          <p:cNvPr id="6" name="テキスト ボックス 5">
            <a:extLst>
              <a:ext uri="{FF2B5EF4-FFF2-40B4-BE49-F238E27FC236}">
                <a16:creationId xmlns:a16="http://schemas.microsoft.com/office/drawing/2014/main" id="{A1E5015E-7515-E2E3-E44C-81095B089F74}"/>
              </a:ext>
            </a:extLst>
          </p:cNvPr>
          <p:cNvSpPr txBox="1"/>
          <p:nvPr/>
        </p:nvSpPr>
        <p:spPr>
          <a:xfrm>
            <a:off x="939800" y="1690688"/>
            <a:ext cx="11772900" cy="461665"/>
          </a:xfrm>
          <a:prstGeom prst="rect">
            <a:avLst/>
          </a:prstGeom>
          <a:noFill/>
        </p:spPr>
        <p:txBody>
          <a:bodyPr wrap="square" rtlCol="0">
            <a:spAutoFit/>
          </a:bodyPr>
          <a:lstStyle/>
          <a:p>
            <a:r>
              <a:rPr kumimoji="1" lang="ja-JP" altLang="en-US" sz="2400" dirty="0"/>
              <a:t>氏名</a:t>
            </a:r>
            <a:r>
              <a:rPr lang="ja-JP" altLang="en-US" sz="2400" dirty="0"/>
              <a:t>　電話番号　</a:t>
            </a:r>
            <a:r>
              <a:rPr kumimoji="1" lang="ja-JP" altLang="en-US" sz="2400" dirty="0"/>
              <a:t>メールアドレス</a:t>
            </a:r>
            <a:r>
              <a:rPr lang="ja-JP" altLang="en-US" sz="2400" dirty="0"/>
              <a:t>　所属部署</a:t>
            </a:r>
            <a:r>
              <a:rPr lang="en-US" altLang="ja-JP" sz="2400" dirty="0"/>
              <a:t>(</a:t>
            </a:r>
            <a:r>
              <a:rPr lang="ja-JP" altLang="en-US" sz="2400" dirty="0"/>
              <a:t>未所属を含む</a:t>
            </a:r>
            <a:r>
              <a:rPr lang="en-US" altLang="ja-JP" sz="2400" dirty="0"/>
              <a:t>)</a:t>
            </a:r>
            <a:r>
              <a:rPr lang="ja-JP" altLang="en-US" sz="2400" dirty="0"/>
              <a:t>を登録できる機能</a:t>
            </a:r>
            <a:endParaRPr lang="en-US" altLang="ja-JP" sz="2400" dirty="0"/>
          </a:p>
        </p:txBody>
      </p:sp>
      <p:sp>
        <p:nvSpPr>
          <p:cNvPr id="9" name="正方形/長方形 8">
            <a:extLst>
              <a:ext uri="{FF2B5EF4-FFF2-40B4-BE49-F238E27FC236}">
                <a16:creationId xmlns:a16="http://schemas.microsoft.com/office/drawing/2014/main" id="{D5357D66-CFE0-961F-C187-E187D0D51D1C}"/>
              </a:ext>
            </a:extLst>
          </p:cNvPr>
          <p:cNvSpPr/>
          <p:nvPr/>
        </p:nvSpPr>
        <p:spPr>
          <a:xfrm>
            <a:off x="1511300" y="3630612"/>
            <a:ext cx="2501900" cy="15367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入力画面</a:t>
            </a:r>
          </a:p>
        </p:txBody>
      </p:sp>
      <p:sp>
        <p:nvSpPr>
          <p:cNvPr id="13" name="正方形/長方形 12">
            <a:extLst>
              <a:ext uri="{FF2B5EF4-FFF2-40B4-BE49-F238E27FC236}">
                <a16:creationId xmlns:a16="http://schemas.microsoft.com/office/drawing/2014/main" id="{300E98C4-BDDB-F900-44F6-BF700D3CD290}"/>
              </a:ext>
            </a:extLst>
          </p:cNvPr>
          <p:cNvSpPr/>
          <p:nvPr/>
        </p:nvSpPr>
        <p:spPr>
          <a:xfrm>
            <a:off x="4876800" y="3630612"/>
            <a:ext cx="2501900" cy="15367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確認</a:t>
            </a:r>
            <a:r>
              <a:rPr kumimoji="1" lang="ja-JP" altLang="en-US" dirty="0"/>
              <a:t>画面</a:t>
            </a:r>
          </a:p>
        </p:txBody>
      </p:sp>
      <p:sp>
        <p:nvSpPr>
          <p:cNvPr id="14" name="正方形/長方形 13">
            <a:extLst>
              <a:ext uri="{FF2B5EF4-FFF2-40B4-BE49-F238E27FC236}">
                <a16:creationId xmlns:a16="http://schemas.microsoft.com/office/drawing/2014/main" id="{36F884F5-4805-3FBF-E44F-64D0AC89FB7F}"/>
              </a:ext>
            </a:extLst>
          </p:cNvPr>
          <p:cNvSpPr/>
          <p:nvPr/>
        </p:nvSpPr>
        <p:spPr>
          <a:xfrm>
            <a:off x="8178800" y="3630612"/>
            <a:ext cx="2501900" cy="15367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完了</a:t>
            </a:r>
            <a:r>
              <a:rPr kumimoji="1" lang="ja-JP" altLang="en-US" dirty="0"/>
              <a:t>画面</a:t>
            </a:r>
          </a:p>
        </p:txBody>
      </p:sp>
      <p:cxnSp>
        <p:nvCxnSpPr>
          <p:cNvPr id="16" name="直線矢印コネクタ 15">
            <a:extLst>
              <a:ext uri="{FF2B5EF4-FFF2-40B4-BE49-F238E27FC236}">
                <a16:creationId xmlns:a16="http://schemas.microsoft.com/office/drawing/2014/main" id="{F6BFC20F-F961-2E30-C716-115780584A6D}"/>
              </a:ext>
            </a:extLst>
          </p:cNvPr>
          <p:cNvCxnSpPr>
            <a:cxnSpLocks/>
            <a:stCxn id="9" idx="3"/>
            <a:endCxn id="13" idx="1"/>
          </p:cNvCxnSpPr>
          <p:nvPr/>
        </p:nvCxnSpPr>
        <p:spPr>
          <a:xfrm>
            <a:off x="4013200" y="4398962"/>
            <a:ext cx="863600" cy="0"/>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cxnSp>
        <p:nvCxnSpPr>
          <p:cNvPr id="20" name="直線矢印コネクタ 19">
            <a:extLst>
              <a:ext uri="{FF2B5EF4-FFF2-40B4-BE49-F238E27FC236}">
                <a16:creationId xmlns:a16="http://schemas.microsoft.com/office/drawing/2014/main" id="{1996BB43-B6ED-9ECB-5562-9C83CA490EF6}"/>
              </a:ext>
            </a:extLst>
          </p:cNvPr>
          <p:cNvCxnSpPr>
            <a:stCxn id="13" idx="3"/>
            <a:endCxn id="14" idx="1"/>
          </p:cNvCxnSpPr>
          <p:nvPr/>
        </p:nvCxnSpPr>
        <p:spPr>
          <a:xfrm>
            <a:off x="7378700" y="4398962"/>
            <a:ext cx="800100" cy="0"/>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sp>
        <p:nvSpPr>
          <p:cNvPr id="26" name="テキスト ボックス 25">
            <a:extLst>
              <a:ext uri="{FF2B5EF4-FFF2-40B4-BE49-F238E27FC236}">
                <a16:creationId xmlns:a16="http://schemas.microsoft.com/office/drawing/2014/main" id="{242AC26C-3E82-E885-BA9D-C7A05EC4167B}"/>
              </a:ext>
            </a:extLst>
          </p:cNvPr>
          <p:cNvSpPr txBox="1"/>
          <p:nvPr/>
        </p:nvSpPr>
        <p:spPr>
          <a:xfrm>
            <a:off x="3178175" y="3244334"/>
            <a:ext cx="6356350" cy="369332"/>
          </a:xfrm>
          <a:prstGeom prst="rect">
            <a:avLst/>
          </a:prstGeom>
          <a:noFill/>
        </p:spPr>
        <p:txBody>
          <a:bodyPr wrap="square">
            <a:spAutoFit/>
          </a:bodyPr>
          <a:lstStyle/>
          <a:p>
            <a:pPr lvl="8"/>
            <a:endParaRPr kumimoji="1" lang="ja-JP" altLang="en-US" dirty="0"/>
          </a:p>
        </p:txBody>
      </p:sp>
      <p:sp>
        <p:nvSpPr>
          <p:cNvPr id="27" name="楕円 26">
            <a:extLst>
              <a:ext uri="{FF2B5EF4-FFF2-40B4-BE49-F238E27FC236}">
                <a16:creationId xmlns:a16="http://schemas.microsoft.com/office/drawing/2014/main" id="{C0BC3580-FA62-4C91-B4F5-69AA1CFE3D74}"/>
              </a:ext>
            </a:extLst>
          </p:cNvPr>
          <p:cNvSpPr/>
          <p:nvPr/>
        </p:nvSpPr>
        <p:spPr>
          <a:xfrm>
            <a:off x="1300533" y="3356345"/>
            <a:ext cx="548533" cy="54853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dirty="0"/>
              <a:t>1</a:t>
            </a:r>
            <a:endParaRPr kumimoji="1" lang="ja-JP" altLang="en-US" sz="3200" dirty="0"/>
          </a:p>
        </p:txBody>
      </p:sp>
      <p:sp>
        <p:nvSpPr>
          <p:cNvPr id="28" name="楕円 27">
            <a:extLst>
              <a:ext uri="{FF2B5EF4-FFF2-40B4-BE49-F238E27FC236}">
                <a16:creationId xmlns:a16="http://schemas.microsoft.com/office/drawing/2014/main" id="{C2BDFDD1-88BC-32DB-5146-0653C911E21E}"/>
              </a:ext>
            </a:extLst>
          </p:cNvPr>
          <p:cNvSpPr/>
          <p:nvPr/>
        </p:nvSpPr>
        <p:spPr>
          <a:xfrm>
            <a:off x="7904533" y="3429000"/>
            <a:ext cx="548533" cy="54853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dirty="0"/>
              <a:t>3</a:t>
            </a:r>
            <a:endParaRPr kumimoji="1" lang="ja-JP" altLang="en-US" sz="3200" dirty="0"/>
          </a:p>
        </p:txBody>
      </p:sp>
      <p:sp>
        <p:nvSpPr>
          <p:cNvPr id="29" name="楕円 28">
            <a:extLst>
              <a:ext uri="{FF2B5EF4-FFF2-40B4-BE49-F238E27FC236}">
                <a16:creationId xmlns:a16="http://schemas.microsoft.com/office/drawing/2014/main" id="{F209C1D1-E038-8036-A04A-F3021B6B6279}"/>
              </a:ext>
            </a:extLst>
          </p:cNvPr>
          <p:cNvSpPr/>
          <p:nvPr/>
        </p:nvSpPr>
        <p:spPr>
          <a:xfrm>
            <a:off x="4602533" y="3429000"/>
            <a:ext cx="548533" cy="54853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dirty="0"/>
              <a:t>2</a:t>
            </a:r>
            <a:endParaRPr kumimoji="1" lang="ja-JP" altLang="en-US" sz="3200" dirty="0"/>
          </a:p>
        </p:txBody>
      </p:sp>
    </p:spTree>
    <p:extLst>
      <p:ext uri="{BB962C8B-B14F-4D97-AF65-F5344CB8AC3E}">
        <p14:creationId xmlns:p14="http://schemas.microsoft.com/office/powerpoint/2010/main" val="17497676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1D77CF95-0175-1B37-0D20-5D0E19E62FC9}"/>
              </a:ext>
            </a:extLst>
          </p:cNvPr>
          <p:cNvPicPr>
            <a:picLocks noChangeAspect="1"/>
          </p:cNvPicPr>
          <p:nvPr/>
        </p:nvPicPr>
        <p:blipFill>
          <a:blip r:embed="rId2"/>
          <a:stretch>
            <a:fillRect/>
          </a:stretch>
        </p:blipFill>
        <p:spPr>
          <a:xfrm>
            <a:off x="536172" y="303906"/>
            <a:ext cx="3648360" cy="3423085"/>
          </a:xfrm>
          <a:prstGeom prst="rect">
            <a:avLst/>
          </a:prstGeom>
        </p:spPr>
      </p:pic>
      <p:pic>
        <p:nvPicPr>
          <p:cNvPr id="6" name="図 5">
            <a:extLst>
              <a:ext uri="{FF2B5EF4-FFF2-40B4-BE49-F238E27FC236}">
                <a16:creationId xmlns:a16="http://schemas.microsoft.com/office/drawing/2014/main" id="{A6590BD6-C9D0-AE7D-CE9C-FDE56FBDFF74}"/>
              </a:ext>
            </a:extLst>
          </p:cNvPr>
          <p:cNvPicPr>
            <a:picLocks noChangeAspect="1"/>
          </p:cNvPicPr>
          <p:nvPr/>
        </p:nvPicPr>
        <p:blipFill>
          <a:blip r:embed="rId3"/>
          <a:stretch>
            <a:fillRect/>
          </a:stretch>
        </p:blipFill>
        <p:spPr>
          <a:xfrm>
            <a:off x="4508343" y="303906"/>
            <a:ext cx="7147485" cy="3422278"/>
          </a:xfrm>
          <a:prstGeom prst="rect">
            <a:avLst/>
          </a:prstGeom>
        </p:spPr>
      </p:pic>
      <p:pic>
        <p:nvPicPr>
          <p:cNvPr id="9" name="図 8">
            <a:extLst>
              <a:ext uri="{FF2B5EF4-FFF2-40B4-BE49-F238E27FC236}">
                <a16:creationId xmlns:a16="http://schemas.microsoft.com/office/drawing/2014/main" id="{57C12E22-FA91-2855-6368-0851DBBFE8E6}"/>
              </a:ext>
            </a:extLst>
          </p:cNvPr>
          <p:cNvPicPr>
            <a:picLocks noChangeAspect="1"/>
          </p:cNvPicPr>
          <p:nvPr/>
        </p:nvPicPr>
        <p:blipFill>
          <a:blip r:embed="rId4"/>
          <a:stretch>
            <a:fillRect/>
          </a:stretch>
        </p:blipFill>
        <p:spPr>
          <a:xfrm>
            <a:off x="4508343" y="3888643"/>
            <a:ext cx="7147485" cy="2665451"/>
          </a:xfrm>
          <a:prstGeom prst="rect">
            <a:avLst/>
          </a:prstGeom>
        </p:spPr>
      </p:pic>
      <p:sp>
        <p:nvSpPr>
          <p:cNvPr id="11" name="楕円 10">
            <a:extLst>
              <a:ext uri="{FF2B5EF4-FFF2-40B4-BE49-F238E27FC236}">
                <a16:creationId xmlns:a16="http://schemas.microsoft.com/office/drawing/2014/main" id="{99301CCF-AA57-4761-FBF1-638F164978C6}"/>
              </a:ext>
            </a:extLst>
          </p:cNvPr>
          <p:cNvSpPr/>
          <p:nvPr/>
        </p:nvSpPr>
        <p:spPr>
          <a:xfrm>
            <a:off x="212361" y="182039"/>
            <a:ext cx="548533" cy="54853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dirty="0"/>
              <a:t>1</a:t>
            </a:r>
            <a:endParaRPr kumimoji="1" lang="ja-JP" altLang="en-US" sz="3200" dirty="0"/>
          </a:p>
        </p:txBody>
      </p:sp>
      <p:sp>
        <p:nvSpPr>
          <p:cNvPr id="12" name="楕円 11">
            <a:extLst>
              <a:ext uri="{FF2B5EF4-FFF2-40B4-BE49-F238E27FC236}">
                <a16:creationId xmlns:a16="http://schemas.microsoft.com/office/drawing/2014/main" id="{686A2C81-FBA4-7027-1852-2B0F0BA51919}"/>
              </a:ext>
            </a:extLst>
          </p:cNvPr>
          <p:cNvSpPr/>
          <p:nvPr/>
        </p:nvSpPr>
        <p:spPr>
          <a:xfrm>
            <a:off x="4234076" y="141447"/>
            <a:ext cx="548533" cy="54853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dirty="0"/>
              <a:t>2</a:t>
            </a:r>
            <a:endParaRPr kumimoji="1" lang="ja-JP" altLang="en-US" sz="3200" dirty="0"/>
          </a:p>
        </p:txBody>
      </p:sp>
      <p:sp>
        <p:nvSpPr>
          <p:cNvPr id="13" name="楕円 12">
            <a:extLst>
              <a:ext uri="{FF2B5EF4-FFF2-40B4-BE49-F238E27FC236}">
                <a16:creationId xmlns:a16="http://schemas.microsoft.com/office/drawing/2014/main" id="{74812591-E5F1-E153-3FB3-4C31B64D547E}"/>
              </a:ext>
            </a:extLst>
          </p:cNvPr>
          <p:cNvSpPr/>
          <p:nvPr/>
        </p:nvSpPr>
        <p:spPr>
          <a:xfrm>
            <a:off x="4234076" y="3726184"/>
            <a:ext cx="548533" cy="54853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dirty="0"/>
              <a:t>3</a:t>
            </a:r>
            <a:endParaRPr kumimoji="1" lang="ja-JP" altLang="en-US" sz="3200" dirty="0"/>
          </a:p>
        </p:txBody>
      </p:sp>
    </p:spTree>
    <p:extLst>
      <p:ext uri="{BB962C8B-B14F-4D97-AF65-F5344CB8AC3E}">
        <p14:creationId xmlns:p14="http://schemas.microsoft.com/office/powerpoint/2010/main" val="29767808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09BC01-C395-E448-6CAF-0F7D9E9C91A8}"/>
              </a:ext>
            </a:extLst>
          </p:cNvPr>
          <p:cNvSpPr>
            <a:spLocks noGrp="1"/>
          </p:cNvSpPr>
          <p:nvPr>
            <p:ph type="title"/>
          </p:nvPr>
        </p:nvSpPr>
        <p:spPr>
          <a:xfrm>
            <a:off x="990600" y="240109"/>
            <a:ext cx="10515600" cy="1325562"/>
          </a:xfrm>
        </p:spPr>
        <p:txBody>
          <a:bodyPr/>
          <a:lstStyle/>
          <a:p>
            <a:r>
              <a:rPr kumimoji="1" lang="ja-JP" altLang="en-US" dirty="0">
                <a:solidFill>
                  <a:schemeClr val="accent5">
                    <a:lumMod val="75000"/>
                  </a:schemeClr>
                </a:solidFill>
              </a:rPr>
              <a:t>部署登録</a:t>
            </a:r>
          </a:p>
        </p:txBody>
      </p:sp>
      <p:sp>
        <p:nvSpPr>
          <p:cNvPr id="3" name="コンテンツ プレースホルダー 2">
            <a:extLst>
              <a:ext uri="{FF2B5EF4-FFF2-40B4-BE49-F238E27FC236}">
                <a16:creationId xmlns:a16="http://schemas.microsoft.com/office/drawing/2014/main" id="{F6FE91CA-24FD-0EDF-09A9-DCBD932FF90F}"/>
              </a:ext>
            </a:extLst>
          </p:cNvPr>
          <p:cNvSpPr>
            <a:spLocks noGrp="1"/>
          </p:cNvSpPr>
          <p:nvPr>
            <p:ph idx="1"/>
          </p:nvPr>
        </p:nvSpPr>
        <p:spPr>
          <a:xfrm>
            <a:off x="4000500" y="624681"/>
            <a:ext cx="11491762" cy="556419"/>
          </a:xfrm>
        </p:spPr>
        <p:txBody>
          <a:bodyPr/>
          <a:lstStyle/>
          <a:p>
            <a:pPr marL="0" indent="0">
              <a:buNone/>
            </a:pPr>
            <a:r>
              <a:rPr kumimoji="1" lang="ja-JP" altLang="en-US" dirty="0"/>
              <a:t>部署名を追加できる機能</a:t>
            </a:r>
            <a:endParaRPr kumimoji="1" lang="en-US" altLang="ja-JP" dirty="0"/>
          </a:p>
          <a:p>
            <a:endParaRPr kumimoji="1" lang="ja-JP" altLang="en-US" dirty="0"/>
          </a:p>
        </p:txBody>
      </p:sp>
      <p:pic>
        <p:nvPicPr>
          <p:cNvPr id="5" name="図 4">
            <a:extLst>
              <a:ext uri="{FF2B5EF4-FFF2-40B4-BE49-F238E27FC236}">
                <a16:creationId xmlns:a16="http://schemas.microsoft.com/office/drawing/2014/main" id="{46DFA07B-CADB-FB05-F91D-EF871E330B48}"/>
              </a:ext>
            </a:extLst>
          </p:cNvPr>
          <p:cNvPicPr>
            <a:picLocks noChangeAspect="1"/>
          </p:cNvPicPr>
          <p:nvPr/>
        </p:nvPicPr>
        <p:blipFill>
          <a:blip r:embed="rId2"/>
          <a:stretch>
            <a:fillRect/>
          </a:stretch>
        </p:blipFill>
        <p:spPr>
          <a:xfrm>
            <a:off x="375807" y="1950243"/>
            <a:ext cx="4221593" cy="2044834"/>
          </a:xfrm>
          <a:prstGeom prst="rect">
            <a:avLst/>
          </a:prstGeom>
        </p:spPr>
      </p:pic>
      <p:pic>
        <p:nvPicPr>
          <p:cNvPr id="7" name="図 6">
            <a:extLst>
              <a:ext uri="{FF2B5EF4-FFF2-40B4-BE49-F238E27FC236}">
                <a16:creationId xmlns:a16="http://schemas.microsoft.com/office/drawing/2014/main" id="{C0876ABF-4CA7-1E7F-5857-3A23E68B95CC}"/>
              </a:ext>
            </a:extLst>
          </p:cNvPr>
          <p:cNvPicPr>
            <a:picLocks noChangeAspect="1"/>
          </p:cNvPicPr>
          <p:nvPr/>
        </p:nvPicPr>
        <p:blipFill>
          <a:blip r:embed="rId3"/>
          <a:stretch>
            <a:fillRect/>
          </a:stretch>
        </p:blipFill>
        <p:spPr>
          <a:xfrm>
            <a:off x="4906962" y="1950244"/>
            <a:ext cx="6599238" cy="2044834"/>
          </a:xfrm>
          <a:prstGeom prst="rect">
            <a:avLst/>
          </a:prstGeom>
        </p:spPr>
      </p:pic>
      <p:pic>
        <p:nvPicPr>
          <p:cNvPr id="9" name="図 8">
            <a:extLst>
              <a:ext uri="{FF2B5EF4-FFF2-40B4-BE49-F238E27FC236}">
                <a16:creationId xmlns:a16="http://schemas.microsoft.com/office/drawing/2014/main" id="{AD3F025B-6C79-94DD-832D-9B2420852E08}"/>
              </a:ext>
            </a:extLst>
          </p:cNvPr>
          <p:cNvPicPr>
            <a:picLocks noChangeAspect="1"/>
          </p:cNvPicPr>
          <p:nvPr/>
        </p:nvPicPr>
        <p:blipFill>
          <a:blip r:embed="rId4"/>
          <a:stretch>
            <a:fillRect/>
          </a:stretch>
        </p:blipFill>
        <p:spPr>
          <a:xfrm>
            <a:off x="4906962" y="4234723"/>
            <a:ext cx="6609798" cy="2375975"/>
          </a:xfrm>
          <a:prstGeom prst="rect">
            <a:avLst/>
          </a:prstGeom>
        </p:spPr>
      </p:pic>
      <p:sp>
        <p:nvSpPr>
          <p:cNvPr id="10" name="楕円 9">
            <a:extLst>
              <a:ext uri="{FF2B5EF4-FFF2-40B4-BE49-F238E27FC236}">
                <a16:creationId xmlns:a16="http://schemas.microsoft.com/office/drawing/2014/main" id="{2E7A4734-3834-8C4D-F2C3-C30AFC8298A8}"/>
              </a:ext>
            </a:extLst>
          </p:cNvPr>
          <p:cNvSpPr/>
          <p:nvPr/>
        </p:nvSpPr>
        <p:spPr>
          <a:xfrm>
            <a:off x="137267" y="1691322"/>
            <a:ext cx="548533" cy="54853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dirty="0"/>
              <a:t>1</a:t>
            </a:r>
            <a:endParaRPr kumimoji="1" lang="ja-JP" altLang="en-US" sz="3200" dirty="0"/>
          </a:p>
        </p:txBody>
      </p:sp>
      <p:sp>
        <p:nvSpPr>
          <p:cNvPr id="11" name="楕円 10">
            <a:extLst>
              <a:ext uri="{FF2B5EF4-FFF2-40B4-BE49-F238E27FC236}">
                <a16:creationId xmlns:a16="http://schemas.microsoft.com/office/drawing/2014/main" id="{C22A43AF-273D-4A40-3F07-346415C8C781}"/>
              </a:ext>
            </a:extLst>
          </p:cNvPr>
          <p:cNvSpPr/>
          <p:nvPr/>
        </p:nvSpPr>
        <p:spPr>
          <a:xfrm>
            <a:off x="4729533" y="1710599"/>
            <a:ext cx="548533" cy="54853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dirty="0"/>
              <a:t>2</a:t>
            </a:r>
            <a:endParaRPr kumimoji="1" lang="ja-JP" altLang="en-US" sz="3200" dirty="0"/>
          </a:p>
        </p:txBody>
      </p:sp>
      <p:sp>
        <p:nvSpPr>
          <p:cNvPr id="12" name="楕円 11">
            <a:extLst>
              <a:ext uri="{FF2B5EF4-FFF2-40B4-BE49-F238E27FC236}">
                <a16:creationId xmlns:a16="http://schemas.microsoft.com/office/drawing/2014/main" id="{A8D3A464-F4BB-87C5-8184-B6A39D8AEE00}"/>
              </a:ext>
            </a:extLst>
          </p:cNvPr>
          <p:cNvSpPr/>
          <p:nvPr/>
        </p:nvSpPr>
        <p:spPr>
          <a:xfrm>
            <a:off x="4729533" y="4050336"/>
            <a:ext cx="548533" cy="54853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dirty="0"/>
              <a:t>3</a:t>
            </a:r>
            <a:endParaRPr kumimoji="1" lang="ja-JP" altLang="en-US" sz="3200" dirty="0"/>
          </a:p>
        </p:txBody>
      </p:sp>
    </p:spTree>
    <p:extLst>
      <p:ext uri="{BB962C8B-B14F-4D97-AF65-F5344CB8AC3E}">
        <p14:creationId xmlns:p14="http://schemas.microsoft.com/office/powerpoint/2010/main" val="25651197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DBF8EBD-F5A1-58CB-362A-012E965F2676}"/>
              </a:ext>
            </a:extLst>
          </p:cNvPr>
          <p:cNvSpPr>
            <a:spLocks noGrp="1"/>
          </p:cNvSpPr>
          <p:nvPr>
            <p:ph type="title"/>
          </p:nvPr>
        </p:nvSpPr>
        <p:spPr>
          <a:xfrm>
            <a:off x="457900" y="250824"/>
            <a:ext cx="10515600" cy="1325563"/>
          </a:xfrm>
        </p:spPr>
        <p:txBody>
          <a:bodyPr/>
          <a:lstStyle/>
          <a:p>
            <a:r>
              <a:rPr kumimoji="1" lang="ja-JP" altLang="en-US" dirty="0">
                <a:solidFill>
                  <a:schemeClr val="accent5">
                    <a:lumMod val="75000"/>
                  </a:schemeClr>
                </a:solidFill>
              </a:rPr>
              <a:t>セールスポイント</a:t>
            </a:r>
          </a:p>
        </p:txBody>
      </p:sp>
      <p:sp>
        <p:nvSpPr>
          <p:cNvPr id="3" name="コンテンツ プレースホルダー 2">
            <a:extLst>
              <a:ext uri="{FF2B5EF4-FFF2-40B4-BE49-F238E27FC236}">
                <a16:creationId xmlns:a16="http://schemas.microsoft.com/office/drawing/2014/main" id="{3F0CC996-A5C8-D846-4745-147B869DA6F5}"/>
              </a:ext>
            </a:extLst>
          </p:cNvPr>
          <p:cNvSpPr>
            <a:spLocks noGrp="1"/>
          </p:cNvSpPr>
          <p:nvPr>
            <p:ph idx="1"/>
          </p:nvPr>
        </p:nvSpPr>
        <p:spPr>
          <a:xfrm>
            <a:off x="6030282" y="325004"/>
            <a:ext cx="5219700" cy="4351338"/>
          </a:xfrm>
        </p:spPr>
        <p:txBody>
          <a:bodyPr/>
          <a:lstStyle/>
          <a:p>
            <a:pPr marL="0" indent="0">
              <a:buNone/>
            </a:pPr>
            <a:r>
              <a:rPr kumimoji="1" lang="ja-JP" altLang="en-US" dirty="0"/>
              <a:t>電話番号とメールアドレス、部署名の重複判定を行った。すでに登録されている場合はエラーメッセージが表示される。</a:t>
            </a:r>
            <a:endParaRPr kumimoji="1" lang="en-US" altLang="ja-JP" dirty="0"/>
          </a:p>
          <a:p>
            <a:pPr marL="0" indent="0">
              <a:buNone/>
            </a:pPr>
            <a:endParaRPr lang="en-US" altLang="ja-JP" dirty="0"/>
          </a:p>
          <a:p>
            <a:pPr marL="0" indent="0">
              <a:buNone/>
            </a:pPr>
            <a:r>
              <a:rPr kumimoji="1" lang="ja-JP" altLang="en-US" dirty="0"/>
              <a:t>また、確認画面から登録ボタンを押すまでの間に追加される可能性を考慮し、実行前にも行い計２回重複判定を行っている。</a:t>
            </a:r>
          </a:p>
        </p:txBody>
      </p:sp>
      <p:pic>
        <p:nvPicPr>
          <p:cNvPr id="5" name="図 4">
            <a:extLst>
              <a:ext uri="{FF2B5EF4-FFF2-40B4-BE49-F238E27FC236}">
                <a16:creationId xmlns:a16="http://schemas.microsoft.com/office/drawing/2014/main" id="{9F8E8ACD-3E13-7326-C26D-DE23F8D36899}"/>
              </a:ext>
            </a:extLst>
          </p:cNvPr>
          <p:cNvPicPr>
            <a:picLocks noChangeAspect="1"/>
          </p:cNvPicPr>
          <p:nvPr/>
        </p:nvPicPr>
        <p:blipFill>
          <a:blip r:embed="rId2"/>
          <a:stretch>
            <a:fillRect/>
          </a:stretch>
        </p:blipFill>
        <p:spPr>
          <a:xfrm>
            <a:off x="860388" y="1690688"/>
            <a:ext cx="4349180" cy="5039157"/>
          </a:xfrm>
          <a:prstGeom prst="rect">
            <a:avLst/>
          </a:prstGeom>
        </p:spPr>
      </p:pic>
      <p:pic>
        <p:nvPicPr>
          <p:cNvPr id="7" name="図 6">
            <a:extLst>
              <a:ext uri="{FF2B5EF4-FFF2-40B4-BE49-F238E27FC236}">
                <a16:creationId xmlns:a16="http://schemas.microsoft.com/office/drawing/2014/main" id="{16531181-6578-EB58-EC84-9A9757B6E657}"/>
              </a:ext>
            </a:extLst>
          </p:cNvPr>
          <p:cNvPicPr>
            <a:picLocks noChangeAspect="1"/>
          </p:cNvPicPr>
          <p:nvPr/>
        </p:nvPicPr>
        <p:blipFill>
          <a:blip r:embed="rId3"/>
          <a:stretch>
            <a:fillRect/>
          </a:stretch>
        </p:blipFill>
        <p:spPr>
          <a:xfrm>
            <a:off x="6306765" y="4357327"/>
            <a:ext cx="4666735" cy="2372518"/>
          </a:xfrm>
          <a:prstGeom prst="rect">
            <a:avLst/>
          </a:prstGeom>
        </p:spPr>
      </p:pic>
    </p:spTree>
    <p:extLst>
      <p:ext uri="{BB962C8B-B14F-4D97-AF65-F5344CB8AC3E}">
        <p14:creationId xmlns:p14="http://schemas.microsoft.com/office/powerpoint/2010/main" val="895062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86E7645-B6D8-2E2C-74C7-137F31CC1E4F}"/>
              </a:ext>
            </a:extLst>
          </p:cNvPr>
          <p:cNvSpPr>
            <a:spLocks noGrp="1"/>
          </p:cNvSpPr>
          <p:nvPr>
            <p:ph type="title"/>
          </p:nvPr>
        </p:nvSpPr>
        <p:spPr/>
        <p:txBody>
          <a:bodyPr/>
          <a:lstStyle/>
          <a:p>
            <a:r>
              <a:rPr kumimoji="1" lang="ja-JP" altLang="en-US" dirty="0">
                <a:solidFill>
                  <a:schemeClr val="accent5">
                    <a:lumMod val="75000"/>
                  </a:schemeClr>
                </a:solidFill>
              </a:rPr>
              <a:t>従業員一覧</a:t>
            </a:r>
          </a:p>
        </p:txBody>
      </p:sp>
      <p:sp>
        <p:nvSpPr>
          <p:cNvPr id="3" name="コンテンツ プレースホルダー 2">
            <a:extLst>
              <a:ext uri="{FF2B5EF4-FFF2-40B4-BE49-F238E27FC236}">
                <a16:creationId xmlns:a16="http://schemas.microsoft.com/office/drawing/2014/main" id="{CEF2B4FF-FC98-7836-3975-C9619A970E1A}"/>
              </a:ext>
            </a:extLst>
          </p:cNvPr>
          <p:cNvSpPr>
            <a:spLocks noGrp="1"/>
          </p:cNvSpPr>
          <p:nvPr>
            <p:ph idx="1"/>
          </p:nvPr>
        </p:nvSpPr>
        <p:spPr>
          <a:xfrm>
            <a:off x="1028700" y="1524330"/>
            <a:ext cx="10515600" cy="1422070"/>
          </a:xfrm>
        </p:spPr>
        <p:txBody>
          <a:bodyPr/>
          <a:lstStyle/>
          <a:p>
            <a:pPr marL="0" indent="0">
              <a:buNone/>
            </a:pPr>
            <a:r>
              <a:rPr kumimoji="1" lang="en-US" altLang="ja-JP" dirty="0"/>
              <a:t>DB</a:t>
            </a:r>
            <a:r>
              <a:rPr kumimoji="1" lang="ja-JP" altLang="en-US" dirty="0"/>
              <a:t>に登録されている従業員を表示できる機能</a:t>
            </a:r>
            <a:endParaRPr kumimoji="1" lang="en-US" altLang="ja-JP" dirty="0"/>
          </a:p>
          <a:p>
            <a:pPr marL="0" indent="0">
              <a:buNone/>
            </a:pPr>
            <a:r>
              <a:rPr lang="ja-JP" altLang="en-US" dirty="0"/>
              <a:t>従業員</a:t>
            </a:r>
            <a:r>
              <a:rPr lang="en-US" altLang="ja-JP" dirty="0"/>
              <a:t>DB</a:t>
            </a:r>
            <a:r>
              <a:rPr lang="ja-JP" altLang="en-US" dirty="0"/>
              <a:t>にはない部署名も</a:t>
            </a:r>
            <a:r>
              <a:rPr lang="en-US" altLang="ja-JP" dirty="0"/>
              <a:t>include</a:t>
            </a:r>
            <a:r>
              <a:rPr lang="ja-JP" altLang="en-US" dirty="0"/>
              <a:t>で取得し表示している</a:t>
            </a:r>
            <a:endParaRPr kumimoji="1" lang="ja-JP" altLang="en-US" dirty="0"/>
          </a:p>
        </p:txBody>
      </p:sp>
      <p:pic>
        <p:nvPicPr>
          <p:cNvPr id="5" name="図 4">
            <a:extLst>
              <a:ext uri="{FF2B5EF4-FFF2-40B4-BE49-F238E27FC236}">
                <a16:creationId xmlns:a16="http://schemas.microsoft.com/office/drawing/2014/main" id="{8CEBE3BA-6E47-824B-1554-5BBBDFEBEAD1}"/>
              </a:ext>
            </a:extLst>
          </p:cNvPr>
          <p:cNvPicPr>
            <a:picLocks noChangeAspect="1"/>
          </p:cNvPicPr>
          <p:nvPr/>
        </p:nvPicPr>
        <p:blipFill>
          <a:blip r:embed="rId2"/>
          <a:stretch>
            <a:fillRect/>
          </a:stretch>
        </p:blipFill>
        <p:spPr>
          <a:xfrm>
            <a:off x="660400" y="3200400"/>
            <a:ext cx="10515600" cy="2446668"/>
          </a:xfrm>
          <a:prstGeom prst="rect">
            <a:avLst/>
          </a:prstGeom>
        </p:spPr>
      </p:pic>
    </p:spTree>
    <p:extLst>
      <p:ext uri="{BB962C8B-B14F-4D97-AF65-F5344CB8AC3E}">
        <p14:creationId xmlns:p14="http://schemas.microsoft.com/office/powerpoint/2010/main" val="16192508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5E987EA-8B97-2FEC-3716-091A5E0F102F}"/>
              </a:ext>
            </a:extLst>
          </p:cNvPr>
          <p:cNvSpPr>
            <a:spLocks noGrp="1"/>
          </p:cNvSpPr>
          <p:nvPr>
            <p:ph type="title"/>
          </p:nvPr>
        </p:nvSpPr>
        <p:spPr/>
        <p:txBody>
          <a:bodyPr/>
          <a:lstStyle/>
          <a:p>
            <a:r>
              <a:rPr kumimoji="1" lang="ja-JP" altLang="en-US" dirty="0">
                <a:solidFill>
                  <a:schemeClr val="accent5">
                    <a:lumMod val="75000"/>
                  </a:schemeClr>
                </a:solidFill>
              </a:rPr>
              <a:t>部署一覧</a:t>
            </a:r>
          </a:p>
        </p:txBody>
      </p:sp>
      <p:sp>
        <p:nvSpPr>
          <p:cNvPr id="3" name="コンテンツ プレースホルダー 2">
            <a:extLst>
              <a:ext uri="{FF2B5EF4-FFF2-40B4-BE49-F238E27FC236}">
                <a16:creationId xmlns:a16="http://schemas.microsoft.com/office/drawing/2014/main" id="{383AEDC0-A15E-13F4-4B34-A45841C5A1A8}"/>
              </a:ext>
            </a:extLst>
          </p:cNvPr>
          <p:cNvSpPr>
            <a:spLocks noGrp="1"/>
          </p:cNvSpPr>
          <p:nvPr>
            <p:ph idx="1"/>
          </p:nvPr>
        </p:nvSpPr>
        <p:spPr/>
        <p:txBody>
          <a:bodyPr/>
          <a:lstStyle/>
          <a:p>
            <a:pPr marL="0" indent="0">
              <a:buNone/>
            </a:pPr>
            <a:r>
              <a:rPr kumimoji="1" lang="en-US" altLang="ja-JP" dirty="0"/>
              <a:t>DB</a:t>
            </a:r>
            <a:r>
              <a:rPr kumimoji="1" lang="ja-JP" altLang="en-US" dirty="0"/>
              <a:t>に登録されている部署を表示できる機能</a:t>
            </a:r>
          </a:p>
        </p:txBody>
      </p:sp>
      <p:pic>
        <p:nvPicPr>
          <p:cNvPr id="5" name="図 4">
            <a:extLst>
              <a:ext uri="{FF2B5EF4-FFF2-40B4-BE49-F238E27FC236}">
                <a16:creationId xmlns:a16="http://schemas.microsoft.com/office/drawing/2014/main" id="{953DF154-7C3E-A06B-26E4-E12B5E0208E2}"/>
              </a:ext>
            </a:extLst>
          </p:cNvPr>
          <p:cNvPicPr>
            <a:picLocks noChangeAspect="1"/>
          </p:cNvPicPr>
          <p:nvPr/>
        </p:nvPicPr>
        <p:blipFill>
          <a:blip r:embed="rId2"/>
          <a:stretch>
            <a:fillRect/>
          </a:stretch>
        </p:blipFill>
        <p:spPr>
          <a:xfrm>
            <a:off x="488950" y="2828425"/>
            <a:ext cx="11214100" cy="2345738"/>
          </a:xfrm>
          <a:prstGeom prst="rect">
            <a:avLst/>
          </a:prstGeom>
        </p:spPr>
      </p:pic>
    </p:spTree>
    <p:extLst>
      <p:ext uri="{BB962C8B-B14F-4D97-AF65-F5344CB8AC3E}">
        <p14:creationId xmlns:p14="http://schemas.microsoft.com/office/powerpoint/2010/main" val="16400787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A321C09-994B-F062-747B-B8738AEE502F}"/>
              </a:ext>
            </a:extLst>
          </p:cNvPr>
          <p:cNvSpPr>
            <a:spLocks noGrp="1"/>
          </p:cNvSpPr>
          <p:nvPr>
            <p:ph type="title"/>
          </p:nvPr>
        </p:nvSpPr>
        <p:spPr/>
        <p:txBody>
          <a:bodyPr/>
          <a:lstStyle/>
          <a:p>
            <a:r>
              <a:rPr kumimoji="1" lang="ja-JP" altLang="en-US" dirty="0">
                <a:solidFill>
                  <a:schemeClr val="accent5">
                    <a:lumMod val="75000"/>
                  </a:schemeClr>
                </a:solidFill>
              </a:rPr>
              <a:t>従業員削除機能</a:t>
            </a:r>
          </a:p>
        </p:txBody>
      </p:sp>
      <p:sp>
        <p:nvSpPr>
          <p:cNvPr id="3" name="コンテンツ プレースホルダー 2">
            <a:extLst>
              <a:ext uri="{FF2B5EF4-FFF2-40B4-BE49-F238E27FC236}">
                <a16:creationId xmlns:a16="http://schemas.microsoft.com/office/drawing/2014/main" id="{4B7E056B-FAEE-6B2F-AE9C-05250F84F26D}"/>
              </a:ext>
            </a:extLst>
          </p:cNvPr>
          <p:cNvSpPr>
            <a:spLocks noGrp="1"/>
          </p:cNvSpPr>
          <p:nvPr>
            <p:ph idx="1"/>
          </p:nvPr>
        </p:nvSpPr>
        <p:spPr>
          <a:xfrm>
            <a:off x="831273" y="2039142"/>
            <a:ext cx="11087100" cy="4351338"/>
          </a:xfrm>
        </p:spPr>
        <p:txBody>
          <a:bodyPr/>
          <a:lstStyle/>
          <a:p>
            <a:pPr marL="0" indent="0">
              <a:buNone/>
            </a:pPr>
            <a:r>
              <a:rPr kumimoji="1" lang="ja-JP" altLang="en-US" dirty="0"/>
              <a:t>一覧画面から選択した従業員のデータを</a:t>
            </a:r>
            <a:r>
              <a:rPr kumimoji="1" lang="en-US" altLang="ja-JP" dirty="0"/>
              <a:t>DB</a:t>
            </a:r>
            <a:r>
              <a:rPr kumimoji="1" lang="ja-JP" altLang="en-US" dirty="0"/>
              <a:t>から削除できる機能</a:t>
            </a:r>
            <a:endParaRPr kumimoji="1" lang="en-US" altLang="ja-JP" dirty="0"/>
          </a:p>
          <a:p>
            <a:pPr lvl="8"/>
            <a:endParaRPr kumimoji="1" lang="ja-JP" altLang="en-US" dirty="0"/>
          </a:p>
        </p:txBody>
      </p:sp>
      <p:sp>
        <p:nvSpPr>
          <p:cNvPr id="4" name="正方形/長方形 3">
            <a:extLst>
              <a:ext uri="{FF2B5EF4-FFF2-40B4-BE49-F238E27FC236}">
                <a16:creationId xmlns:a16="http://schemas.microsoft.com/office/drawing/2014/main" id="{E6E339B4-942E-5C9B-9734-91CB3F24B9EF}"/>
              </a:ext>
            </a:extLst>
          </p:cNvPr>
          <p:cNvSpPr/>
          <p:nvPr/>
        </p:nvSpPr>
        <p:spPr>
          <a:xfrm>
            <a:off x="1574800" y="3630612"/>
            <a:ext cx="2501900" cy="15367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一覧</a:t>
            </a:r>
            <a:r>
              <a:rPr kumimoji="1" lang="ja-JP" altLang="en-US" dirty="0"/>
              <a:t>画面</a:t>
            </a:r>
          </a:p>
        </p:txBody>
      </p:sp>
      <p:sp>
        <p:nvSpPr>
          <p:cNvPr id="5" name="正方形/長方形 4">
            <a:extLst>
              <a:ext uri="{FF2B5EF4-FFF2-40B4-BE49-F238E27FC236}">
                <a16:creationId xmlns:a16="http://schemas.microsoft.com/office/drawing/2014/main" id="{20903EB3-0307-5230-BF0A-33648B771CDA}"/>
              </a:ext>
            </a:extLst>
          </p:cNvPr>
          <p:cNvSpPr/>
          <p:nvPr/>
        </p:nvSpPr>
        <p:spPr>
          <a:xfrm>
            <a:off x="4876800" y="3630612"/>
            <a:ext cx="2501900" cy="15367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確認</a:t>
            </a:r>
            <a:r>
              <a:rPr kumimoji="1" lang="ja-JP" altLang="en-US" dirty="0"/>
              <a:t>画面</a:t>
            </a:r>
          </a:p>
        </p:txBody>
      </p:sp>
      <p:sp>
        <p:nvSpPr>
          <p:cNvPr id="6" name="正方形/長方形 5">
            <a:extLst>
              <a:ext uri="{FF2B5EF4-FFF2-40B4-BE49-F238E27FC236}">
                <a16:creationId xmlns:a16="http://schemas.microsoft.com/office/drawing/2014/main" id="{9D7B3BF4-0B91-790C-679F-0935F7867907}"/>
              </a:ext>
            </a:extLst>
          </p:cNvPr>
          <p:cNvSpPr/>
          <p:nvPr/>
        </p:nvSpPr>
        <p:spPr>
          <a:xfrm>
            <a:off x="8178800" y="3630612"/>
            <a:ext cx="2501900" cy="15367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完了</a:t>
            </a:r>
            <a:r>
              <a:rPr kumimoji="1" lang="ja-JP" altLang="en-US" dirty="0"/>
              <a:t>画面</a:t>
            </a:r>
          </a:p>
        </p:txBody>
      </p:sp>
      <p:cxnSp>
        <p:nvCxnSpPr>
          <p:cNvPr id="7" name="直線矢印コネクタ 6">
            <a:extLst>
              <a:ext uri="{FF2B5EF4-FFF2-40B4-BE49-F238E27FC236}">
                <a16:creationId xmlns:a16="http://schemas.microsoft.com/office/drawing/2014/main" id="{071AE782-FE35-3169-8D00-D9A4D4E7BE69}"/>
              </a:ext>
            </a:extLst>
          </p:cNvPr>
          <p:cNvCxnSpPr>
            <a:cxnSpLocks/>
            <a:stCxn id="4" idx="3"/>
            <a:endCxn id="5" idx="1"/>
          </p:cNvCxnSpPr>
          <p:nvPr/>
        </p:nvCxnSpPr>
        <p:spPr>
          <a:xfrm>
            <a:off x="4076700" y="4398962"/>
            <a:ext cx="8001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 name="直線矢印コネクタ 7">
            <a:extLst>
              <a:ext uri="{FF2B5EF4-FFF2-40B4-BE49-F238E27FC236}">
                <a16:creationId xmlns:a16="http://schemas.microsoft.com/office/drawing/2014/main" id="{BA909AFD-ED1C-118C-7B19-14C04C234B38}"/>
              </a:ext>
            </a:extLst>
          </p:cNvPr>
          <p:cNvCxnSpPr>
            <a:stCxn id="5" idx="3"/>
            <a:endCxn id="6" idx="1"/>
          </p:cNvCxnSpPr>
          <p:nvPr/>
        </p:nvCxnSpPr>
        <p:spPr>
          <a:xfrm>
            <a:off x="7378700" y="4398962"/>
            <a:ext cx="8001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楕円 16">
            <a:extLst>
              <a:ext uri="{FF2B5EF4-FFF2-40B4-BE49-F238E27FC236}">
                <a16:creationId xmlns:a16="http://schemas.microsoft.com/office/drawing/2014/main" id="{F2BCE2E9-EE43-2684-9BD5-0FF74AACC069}"/>
              </a:ext>
            </a:extLst>
          </p:cNvPr>
          <p:cNvSpPr/>
          <p:nvPr/>
        </p:nvSpPr>
        <p:spPr>
          <a:xfrm>
            <a:off x="1300533" y="3356345"/>
            <a:ext cx="548533" cy="54853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dirty="0"/>
              <a:t>1</a:t>
            </a:r>
            <a:endParaRPr kumimoji="1" lang="ja-JP" altLang="en-US" sz="3200" dirty="0"/>
          </a:p>
        </p:txBody>
      </p:sp>
      <p:sp>
        <p:nvSpPr>
          <p:cNvPr id="18" name="楕円 17">
            <a:extLst>
              <a:ext uri="{FF2B5EF4-FFF2-40B4-BE49-F238E27FC236}">
                <a16:creationId xmlns:a16="http://schemas.microsoft.com/office/drawing/2014/main" id="{8A413895-8666-2901-E799-DEFCE62C047A}"/>
              </a:ext>
            </a:extLst>
          </p:cNvPr>
          <p:cNvSpPr/>
          <p:nvPr/>
        </p:nvSpPr>
        <p:spPr>
          <a:xfrm>
            <a:off x="4602533" y="3356345"/>
            <a:ext cx="548533" cy="54853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dirty="0"/>
              <a:t>2</a:t>
            </a:r>
            <a:endParaRPr kumimoji="1" lang="ja-JP" altLang="en-US" sz="3200" dirty="0"/>
          </a:p>
        </p:txBody>
      </p:sp>
      <p:sp>
        <p:nvSpPr>
          <p:cNvPr id="19" name="楕円 18">
            <a:extLst>
              <a:ext uri="{FF2B5EF4-FFF2-40B4-BE49-F238E27FC236}">
                <a16:creationId xmlns:a16="http://schemas.microsoft.com/office/drawing/2014/main" id="{752A1369-6011-8082-D868-21D3ACA9CA49}"/>
              </a:ext>
            </a:extLst>
          </p:cNvPr>
          <p:cNvSpPr/>
          <p:nvPr/>
        </p:nvSpPr>
        <p:spPr>
          <a:xfrm>
            <a:off x="7904533" y="3356345"/>
            <a:ext cx="548533" cy="54853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dirty="0"/>
              <a:t>3</a:t>
            </a:r>
            <a:endParaRPr kumimoji="1" lang="ja-JP" altLang="en-US" sz="3200" dirty="0"/>
          </a:p>
        </p:txBody>
      </p:sp>
      <p:cxnSp>
        <p:nvCxnSpPr>
          <p:cNvPr id="24" name="直線コネクタ 23">
            <a:extLst>
              <a:ext uri="{FF2B5EF4-FFF2-40B4-BE49-F238E27FC236}">
                <a16:creationId xmlns:a16="http://schemas.microsoft.com/office/drawing/2014/main" id="{128CE2B6-4129-FE5D-66C5-FB731E1E9595}"/>
              </a:ext>
            </a:extLst>
          </p:cNvPr>
          <p:cNvCxnSpPr/>
          <p:nvPr/>
        </p:nvCxnSpPr>
        <p:spPr>
          <a:xfrm>
            <a:off x="845127" y="1384300"/>
            <a:ext cx="4031672"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07710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BD9D79E2-BA3D-0EFE-E967-BF7B55C762EE}"/>
              </a:ext>
            </a:extLst>
          </p:cNvPr>
          <p:cNvPicPr>
            <a:picLocks noChangeAspect="1"/>
          </p:cNvPicPr>
          <p:nvPr/>
        </p:nvPicPr>
        <p:blipFill>
          <a:blip r:embed="rId2"/>
          <a:stretch>
            <a:fillRect/>
          </a:stretch>
        </p:blipFill>
        <p:spPr>
          <a:xfrm>
            <a:off x="354874" y="748120"/>
            <a:ext cx="11431452" cy="2659760"/>
          </a:xfrm>
          <a:prstGeom prst="rect">
            <a:avLst/>
          </a:prstGeom>
        </p:spPr>
      </p:pic>
      <p:pic>
        <p:nvPicPr>
          <p:cNvPr id="6" name="図 5">
            <a:extLst>
              <a:ext uri="{FF2B5EF4-FFF2-40B4-BE49-F238E27FC236}">
                <a16:creationId xmlns:a16="http://schemas.microsoft.com/office/drawing/2014/main" id="{E539C401-FD42-E705-0EF4-EB13619AA045}"/>
              </a:ext>
            </a:extLst>
          </p:cNvPr>
          <p:cNvPicPr>
            <a:picLocks noChangeAspect="1"/>
          </p:cNvPicPr>
          <p:nvPr/>
        </p:nvPicPr>
        <p:blipFill>
          <a:blip r:embed="rId3"/>
          <a:stretch>
            <a:fillRect/>
          </a:stretch>
        </p:blipFill>
        <p:spPr>
          <a:xfrm>
            <a:off x="380274" y="3620364"/>
            <a:ext cx="4642395" cy="2468396"/>
          </a:xfrm>
          <a:prstGeom prst="rect">
            <a:avLst/>
          </a:prstGeom>
        </p:spPr>
      </p:pic>
      <p:pic>
        <p:nvPicPr>
          <p:cNvPr id="8" name="図 7">
            <a:extLst>
              <a:ext uri="{FF2B5EF4-FFF2-40B4-BE49-F238E27FC236}">
                <a16:creationId xmlns:a16="http://schemas.microsoft.com/office/drawing/2014/main" id="{26D6D9B6-A731-C8F1-B627-C8E5814B511A}"/>
              </a:ext>
            </a:extLst>
          </p:cNvPr>
          <p:cNvPicPr>
            <a:picLocks noChangeAspect="1"/>
          </p:cNvPicPr>
          <p:nvPr/>
        </p:nvPicPr>
        <p:blipFill>
          <a:blip r:embed="rId4"/>
          <a:stretch>
            <a:fillRect/>
          </a:stretch>
        </p:blipFill>
        <p:spPr>
          <a:xfrm>
            <a:off x="5190889" y="3620364"/>
            <a:ext cx="6620837" cy="2468396"/>
          </a:xfrm>
          <a:prstGeom prst="rect">
            <a:avLst/>
          </a:prstGeom>
        </p:spPr>
      </p:pic>
      <p:sp>
        <p:nvSpPr>
          <p:cNvPr id="11" name="テキスト ボックス 10">
            <a:extLst>
              <a:ext uri="{FF2B5EF4-FFF2-40B4-BE49-F238E27FC236}">
                <a16:creationId xmlns:a16="http://schemas.microsoft.com/office/drawing/2014/main" id="{B6BAB351-D1BA-B457-3594-DC29FBEAEA80}"/>
              </a:ext>
            </a:extLst>
          </p:cNvPr>
          <p:cNvSpPr txBox="1"/>
          <p:nvPr/>
        </p:nvSpPr>
        <p:spPr>
          <a:xfrm>
            <a:off x="3048000" y="3244334"/>
            <a:ext cx="6096000" cy="369332"/>
          </a:xfrm>
          <a:prstGeom prst="rect">
            <a:avLst/>
          </a:prstGeom>
          <a:noFill/>
        </p:spPr>
        <p:txBody>
          <a:bodyPr wrap="square">
            <a:spAutoFit/>
          </a:bodyPr>
          <a:lstStyle/>
          <a:p>
            <a:endParaRPr lang="ja-JP" altLang="en-US" dirty="0"/>
          </a:p>
        </p:txBody>
      </p:sp>
      <p:sp>
        <p:nvSpPr>
          <p:cNvPr id="12" name="楕円 11">
            <a:extLst>
              <a:ext uri="{FF2B5EF4-FFF2-40B4-BE49-F238E27FC236}">
                <a16:creationId xmlns:a16="http://schemas.microsoft.com/office/drawing/2014/main" id="{563D7A3E-63B0-B2A9-61D9-02117F83B461}"/>
              </a:ext>
            </a:extLst>
          </p:cNvPr>
          <p:cNvSpPr/>
          <p:nvPr/>
        </p:nvSpPr>
        <p:spPr>
          <a:xfrm>
            <a:off x="80607" y="542334"/>
            <a:ext cx="548533" cy="54853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dirty="0"/>
              <a:t>1</a:t>
            </a:r>
            <a:endParaRPr kumimoji="1" lang="ja-JP" altLang="en-US" sz="3200" dirty="0"/>
          </a:p>
        </p:txBody>
      </p:sp>
      <p:sp>
        <p:nvSpPr>
          <p:cNvPr id="15" name="楕円 14">
            <a:extLst>
              <a:ext uri="{FF2B5EF4-FFF2-40B4-BE49-F238E27FC236}">
                <a16:creationId xmlns:a16="http://schemas.microsoft.com/office/drawing/2014/main" id="{F0E57899-C418-89CC-C634-1FF3919EC477}"/>
              </a:ext>
            </a:extLst>
          </p:cNvPr>
          <p:cNvSpPr/>
          <p:nvPr/>
        </p:nvSpPr>
        <p:spPr>
          <a:xfrm>
            <a:off x="92238" y="3491980"/>
            <a:ext cx="548533" cy="54853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dirty="0"/>
              <a:t>2</a:t>
            </a:r>
            <a:endParaRPr kumimoji="1" lang="ja-JP" altLang="en-US" sz="3200" dirty="0"/>
          </a:p>
        </p:txBody>
      </p:sp>
      <p:sp>
        <p:nvSpPr>
          <p:cNvPr id="20" name="楕円 19">
            <a:extLst>
              <a:ext uri="{FF2B5EF4-FFF2-40B4-BE49-F238E27FC236}">
                <a16:creationId xmlns:a16="http://schemas.microsoft.com/office/drawing/2014/main" id="{FFEB097F-88E1-12E0-1881-E5A2B2B740EB}"/>
              </a:ext>
            </a:extLst>
          </p:cNvPr>
          <p:cNvSpPr/>
          <p:nvPr/>
        </p:nvSpPr>
        <p:spPr>
          <a:xfrm>
            <a:off x="5036438" y="3491980"/>
            <a:ext cx="548533" cy="54853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dirty="0"/>
              <a:t>3</a:t>
            </a:r>
            <a:endParaRPr kumimoji="1" lang="ja-JP" altLang="en-US" sz="3200" dirty="0"/>
          </a:p>
        </p:txBody>
      </p:sp>
    </p:spTree>
    <p:extLst>
      <p:ext uri="{BB962C8B-B14F-4D97-AF65-F5344CB8AC3E}">
        <p14:creationId xmlns:p14="http://schemas.microsoft.com/office/powerpoint/2010/main" val="19736296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44BDCEB-5FA0-0EB9-2B6E-E52C6022FFE2}"/>
              </a:ext>
            </a:extLst>
          </p:cNvPr>
          <p:cNvSpPr>
            <a:spLocks noGrp="1"/>
          </p:cNvSpPr>
          <p:nvPr>
            <p:ph type="title"/>
          </p:nvPr>
        </p:nvSpPr>
        <p:spPr/>
        <p:txBody>
          <a:bodyPr/>
          <a:lstStyle/>
          <a:p>
            <a:r>
              <a:rPr kumimoji="1" lang="ja-JP" altLang="en-US" dirty="0">
                <a:solidFill>
                  <a:schemeClr val="accent5">
                    <a:lumMod val="75000"/>
                  </a:schemeClr>
                </a:solidFill>
              </a:rPr>
              <a:t>部署削除</a:t>
            </a:r>
          </a:p>
        </p:txBody>
      </p:sp>
      <p:sp>
        <p:nvSpPr>
          <p:cNvPr id="3" name="コンテンツ プレースホルダー 2">
            <a:extLst>
              <a:ext uri="{FF2B5EF4-FFF2-40B4-BE49-F238E27FC236}">
                <a16:creationId xmlns:a16="http://schemas.microsoft.com/office/drawing/2014/main" id="{19705805-6E78-2B72-F9C9-227C8D8D14C6}"/>
              </a:ext>
            </a:extLst>
          </p:cNvPr>
          <p:cNvSpPr>
            <a:spLocks noGrp="1"/>
          </p:cNvSpPr>
          <p:nvPr>
            <p:ph idx="1"/>
          </p:nvPr>
        </p:nvSpPr>
        <p:spPr>
          <a:xfrm>
            <a:off x="4648200" y="561409"/>
            <a:ext cx="5511800" cy="1227421"/>
          </a:xfrm>
        </p:spPr>
        <p:txBody>
          <a:bodyPr>
            <a:normAutofit/>
          </a:bodyPr>
          <a:lstStyle/>
          <a:p>
            <a:pPr marL="0" indent="0">
              <a:buNone/>
            </a:pPr>
            <a:r>
              <a:rPr lang="ja-JP" altLang="en-US" dirty="0"/>
              <a:t>一覧画面から選択した部署のデータを</a:t>
            </a:r>
            <a:r>
              <a:rPr lang="en-US" altLang="ja-JP" dirty="0"/>
              <a:t>DB</a:t>
            </a:r>
            <a:r>
              <a:rPr lang="ja-JP" altLang="en-US" dirty="0"/>
              <a:t>から削除できる機能</a:t>
            </a:r>
            <a:endParaRPr lang="en-US" altLang="ja-JP" dirty="0"/>
          </a:p>
          <a:p>
            <a:pPr marL="0" indent="0">
              <a:buNone/>
            </a:pPr>
            <a:endParaRPr kumimoji="1" lang="ja-JP" altLang="en-US" dirty="0"/>
          </a:p>
        </p:txBody>
      </p:sp>
      <p:pic>
        <p:nvPicPr>
          <p:cNvPr id="5" name="図 4">
            <a:extLst>
              <a:ext uri="{FF2B5EF4-FFF2-40B4-BE49-F238E27FC236}">
                <a16:creationId xmlns:a16="http://schemas.microsoft.com/office/drawing/2014/main" id="{24D9E5FA-A2DF-4A82-B0D7-6582B588B443}"/>
              </a:ext>
            </a:extLst>
          </p:cNvPr>
          <p:cNvPicPr>
            <a:picLocks noChangeAspect="1"/>
          </p:cNvPicPr>
          <p:nvPr/>
        </p:nvPicPr>
        <p:blipFill>
          <a:blip r:embed="rId2"/>
          <a:stretch>
            <a:fillRect/>
          </a:stretch>
        </p:blipFill>
        <p:spPr>
          <a:xfrm>
            <a:off x="274769" y="1788830"/>
            <a:ext cx="11485431" cy="2536660"/>
          </a:xfrm>
          <a:prstGeom prst="rect">
            <a:avLst/>
          </a:prstGeom>
        </p:spPr>
      </p:pic>
      <p:pic>
        <p:nvPicPr>
          <p:cNvPr id="7" name="図 6">
            <a:extLst>
              <a:ext uri="{FF2B5EF4-FFF2-40B4-BE49-F238E27FC236}">
                <a16:creationId xmlns:a16="http://schemas.microsoft.com/office/drawing/2014/main" id="{7471D347-873A-0CE8-F3F7-59D61C26B62C}"/>
              </a:ext>
            </a:extLst>
          </p:cNvPr>
          <p:cNvPicPr>
            <a:picLocks noChangeAspect="1"/>
          </p:cNvPicPr>
          <p:nvPr/>
        </p:nvPicPr>
        <p:blipFill>
          <a:blip r:embed="rId3"/>
          <a:stretch>
            <a:fillRect/>
          </a:stretch>
        </p:blipFill>
        <p:spPr>
          <a:xfrm>
            <a:off x="274769" y="4487721"/>
            <a:ext cx="5740401" cy="1974971"/>
          </a:xfrm>
          <a:prstGeom prst="rect">
            <a:avLst/>
          </a:prstGeom>
        </p:spPr>
      </p:pic>
      <p:pic>
        <p:nvPicPr>
          <p:cNvPr id="9" name="図 8">
            <a:extLst>
              <a:ext uri="{FF2B5EF4-FFF2-40B4-BE49-F238E27FC236}">
                <a16:creationId xmlns:a16="http://schemas.microsoft.com/office/drawing/2014/main" id="{26C908BD-5917-F676-E5AE-CC1F0DAAB34C}"/>
              </a:ext>
            </a:extLst>
          </p:cNvPr>
          <p:cNvPicPr>
            <a:picLocks noChangeAspect="1"/>
          </p:cNvPicPr>
          <p:nvPr/>
        </p:nvPicPr>
        <p:blipFill>
          <a:blip r:embed="rId4"/>
          <a:stretch>
            <a:fillRect/>
          </a:stretch>
        </p:blipFill>
        <p:spPr>
          <a:xfrm>
            <a:off x="6419851" y="4502812"/>
            <a:ext cx="5340349" cy="1944788"/>
          </a:xfrm>
          <a:prstGeom prst="rect">
            <a:avLst/>
          </a:prstGeom>
        </p:spPr>
      </p:pic>
      <p:sp>
        <p:nvSpPr>
          <p:cNvPr id="10" name="楕円 9">
            <a:extLst>
              <a:ext uri="{FF2B5EF4-FFF2-40B4-BE49-F238E27FC236}">
                <a16:creationId xmlns:a16="http://schemas.microsoft.com/office/drawing/2014/main" id="{8F45EF73-891A-6029-3825-6021BBA62C3B}"/>
              </a:ext>
            </a:extLst>
          </p:cNvPr>
          <p:cNvSpPr/>
          <p:nvPr/>
        </p:nvSpPr>
        <p:spPr>
          <a:xfrm>
            <a:off x="157533" y="1514563"/>
            <a:ext cx="548533" cy="54853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dirty="0"/>
              <a:t>1</a:t>
            </a:r>
            <a:endParaRPr kumimoji="1" lang="ja-JP" altLang="en-US" sz="3200" dirty="0"/>
          </a:p>
        </p:txBody>
      </p:sp>
      <p:sp>
        <p:nvSpPr>
          <p:cNvPr id="11" name="楕円 10">
            <a:extLst>
              <a:ext uri="{FF2B5EF4-FFF2-40B4-BE49-F238E27FC236}">
                <a16:creationId xmlns:a16="http://schemas.microsoft.com/office/drawing/2014/main" id="{130B42AF-EC6B-A6E2-045C-5115017AF27C}"/>
              </a:ext>
            </a:extLst>
          </p:cNvPr>
          <p:cNvSpPr/>
          <p:nvPr/>
        </p:nvSpPr>
        <p:spPr>
          <a:xfrm>
            <a:off x="6176832" y="4325490"/>
            <a:ext cx="548533" cy="54853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dirty="0"/>
              <a:t>3</a:t>
            </a:r>
            <a:endParaRPr kumimoji="1" lang="ja-JP" altLang="en-US" sz="3200" dirty="0"/>
          </a:p>
        </p:txBody>
      </p:sp>
      <p:sp>
        <p:nvSpPr>
          <p:cNvPr id="12" name="楕円 11">
            <a:extLst>
              <a:ext uri="{FF2B5EF4-FFF2-40B4-BE49-F238E27FC236}">
                <a16:creationId xmlns:a16="http://schemas.microsoft.com/office/drawing/2014/main" id="{AFB49BA8-A914-EA2A-2C46-1A41D30D3B73}"/>
              </a:ext>
            </a:extLst>
          </p:cNvPr>
          <p:cNvSpPr/>
          <p:nvPr/>
        </p:nvSpPr>
        <p:spPr>
          <a:xfrm>
            <a:off x="157532" y="4213454"/>
            <a:ext cx="548533" cy="54853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dirty="0"/>
              <a:t>2</a:t>
            </a:r>
            <a:endParaRPr kumimoji="1" lang="ja-JP" altLang="en-US" sz="3200" dirty="0"/>
          </a:p>
        </p:txBody>
      </p:sp>
      <p:cxnSp>
        <p:nvCxnSpPr>
          <p:cNvPr id="14" name="直線コネクタ 13">
            <a:extLst>
              <a:ext uri="{FF2B5EF4-FFF2-40B4-BE49-F238E27FC236}">
                <a16:creationId xmlns:a16="http://schemas.microsoft.com/office/drawing/2014/main" id="{8C2B6B11-49D5-1E1D-3838-0C1395EDA09A}"/>
              </a:ext>
            </a:extLst>
          </p:cNvPr>
          <p:cNvCxnSpPr/>
          <p:nvPr/>
        </p:nvCxnSpPr>
        <p:spPr>
          <a:xfrm>
            <a:off x="845127" y="1320800"/>
            <a:ext cx="2380673"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315841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3EDE0A2-87AA-0763-4757-39FBE4202C07}"/>
              </a:ext>
            </a:extLst>
          </p:cNvPr>
          <p:cNvSpPr>
            <a:spLocks noGrp="1"/>
          </p:cNvSpPr>
          <p:nvPr>
            <p:ph type="title"/>
          </p:nvPr>
        </p:nvSpPr>
        <p:spPr/>
        <p:txBody>
          <a:bodyPr/>
          <a:lstStyle/>
          <a:p>
            <a:r>
              <a:rPr kumimoji="1" lang="ja-JP" altLang="en-US" dirty="0">
                <a:solidFill>
                  <a:schemeClr val="accent5">
                    <a:lumMod val="75000"/>
                  </a:schemeClr>
                </a:solidFill>
              </a:rPr>
              <a:t>セールスポイント</a:t>
            </a:r>
          </a:p>
        </p:txBody>
      </p:sp>
      <p:sp>
        <p:nvSpPr>
          <p:cNvPr id="3" name="コンテンツ プレースホルダー 2">
            <a:extLst>
              <a:ext uri="{FF2B5EF4-FFF2-40B4-BE49-F238E27FC236}">
                <a16:creationId xmlns:a16="http://schemas.microsoft.com/office/drawing/2014/main" id="{2D017B68-FE1F-62EF-2E7D-B7D0F7F995F6}"/>
              </a:ext>
            </a:extLst>
          </p:cNvPr>
          <p:cNvSpPr>
            <a:spLocks noGrp="1"/>
          </p:cNvSpPr>
          <p:nvPr>
            <p:ph idx="1"/>
          </p:nvPr>
        </p:nvSpPr>
        <p:spPr>
          <a:xfrm>
            <a:off x="1016000" y="1628776"/>
            <a:ext cx="10782300" cy="4351338"/>
          </a:xfrm>
        </p:spPr>
        <p:txBody>
          <a:bodyPr/>
          <a:lstStyle/>
          <a:p>
            <a:pPr marL="0" indent="0">
              <a:buNone/>
            </a:pPr>
            <a:r>
              <a:rPr kumimoji="1" lang="ja-JP" altLang="en-US" dirty="0"/>
              <a:t>部署削除の際にその部署に所属している従業員がいる場合確認画面でエラーが表示されるように削除ボタンが表示されないようにした。</a:t>
            </a:r>
          </a:p>
        </p:txBody>
      </p:sp>
      <p:pic>
        <p:nvPicPr>
          <p:cNvPr id="5" name="図 4">
            <a:extLst>
              <a:ext uri="{FF2B5EF4-FFF2-40B4-BE49-F238E27FC236}">
                <a16:creationId xmlns:a16="http://schemas.microsoft.com/office/drawing/2014/main" id="{F490A91A-E250-E325-931D-633DDBEF5DC1}"/>
              </a:ext>
            </a:extLst>
          </p:cNvPr>
          <p:cNvPicPr>
            <a:picLocks noChangeAspect="1"/>
          </p:cNvPicPr>
          <p:nvPr/>
        </p:nvPicPr>
        <p:blipFill>
          <a:blip r:embed="rId2"/>
          <a:stretch>
            <a:fillRect/>
          </a:stretch>
        </p:blipFill>
        <p:spPr>
          <a:xfrm>
            <a:off x="2032507" y="2735118"/>
            <a:ext cx="8126986" cy="3643457"/>
          </a:xfrm>
          <a:prstGeom prst="rect">
            <a:avLst/>
          </a:prstGeom>
        </p:spPr>
      </p:pic>
      <p:cxnSp>
        <p:nvCxnSpPr>
          <p:cNvPr id="7" name="直線コネクタ 6">
            <a:extLst>
              <a:ext uri="{FF2B5EF4-FFF2-40B4-BE49-F238E27FC236}">
                <a16:creationId xmlns:a16="http://schemas.microsoft.com/office/drawing/2014/main" id="{1D01156B-A9F9-B318-0C33-DC6135C76F39}"/>
              </a:ext>
            </a:extLst>
          </p:cNvPr>
          <p:cNvCxnSpPr/>
          <p:nvPr/>
        </p:nvCxnSpPr>
        <p:spPr>
          <a:xfrm>
            <a:off x="845127" y="1384300"/>
            <a:ext cx="4311073"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64656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59FC0DB-0C3E-60DF-1B31-C8993F020CED}"/>
              </a:ext>
            </a:extLst>
          </p:cNvPr>
          <p:cNvSpPr>
            <a:spLocks noGrp="1"/>
          </p:cNvSpPr>
          <p:nvPr>
            <p:ph type="title"/>
          </p:nvPr>
        </p:nvSpPr>
        <p:spPr>
          <a:xfrm>
            <a:off x="513503" y="316314"/>
            <a:ext cx="10515600" cy="1325562"/>
          </a:xfrm>
        </p:spPr>
        <p:txBody>
          <a:bodyPr/>
          <a:lstStyle/>
          <a:p>
            <a:r>
              <a:rPr kumimoji="1" lang="ja-JP" altLang="en-US" dirty="0">
                <a:solidFill>
                  <a:schemeClr val="accent5">
                    <a:lumMod val="75000"/>
                  </a:schemeClr>
                </a:solidFill>
              </a:rPr>
              <a:t>追加で行った機能</a:t>
            </a:r>
          </a:p>
        </p:txBody>
      </p:sp>
      <p:sp>
        <p:nvSpPr>
          <p:cNvPr id="3" name="コンテンツ プレースホルダー 2">
            <a:extLst>
              <a:ext uri="{FF2B5EF4-FFF2-40B4-BE49-F238E27FC236}">
                <a16:creationId xmlns:a16="http://schemas.microsoft.com/office/drawing/2014/main" id="{434FD741-6054-F954-1A30-606A9F80D297}"/>
              </a:ext>
            </a:extLst>
          </p:cNvPr>
          <p:cNvSpPr>
            <a:spLocks noGrp="1"/>
          </p:cNvSpPr>
          <p:nvPr>
            <p:ph idx="1"/>
          </p:nvPr>
        </p:nvSpPr>
        <p:spPr>
          <a:xfrm>
            <a:off x="596132" y="1449122"/>
            <a:ext cx="10515600" cy="4351338"/>
          </a:xfrm>
        </p:spPr>
        <p:txBody>
          <a:bodyPr/>
          <a:lstStyle/>
          <a:p>
            <a:r>
              <a:rPr kumimoji="1" lang="ja-JP" altLang="en-US" dirty="0"/>
              <a:t>ダークモードの対応</a:t>
            </a:r>
            <a:endParaRPr kumimoji="1" lang="en-US" altLang="ja-JP" dirty="0"/>
          </a:p>
          <a:p>
            <a:r>
              <a:rPr lang="ja-JP" altLang="en-US" dirty="0"/>
              <a:t>文字のフォント変更</a:t>
            </a:r>
            <a:endParaRPr lang="en-US" altLang="ja-JP" dirty="0"/>
          </a:p>
          <a:p>
            <a:r>
              <a:rPr kumimoji="1" lang="ja-JP" altLang="en-US" dirty="0"/>
              <a:t>サイトのアイコンの設定（セールスポイント）</a:t>
            </a:r>
            <a:endParaRPr kumimoji="1" lang="en-US" altLang="ja-JP" dirty="0"/>
          </a:p>
          <a:p>
            <a:r>
              <a:rPr kumimoji="1" lang="ja-JP" altLang="en-US" dirty="0"/>
              <a:t>カバレッジレポート</a:t>
            </a:r>
            <a:r>
              <a:rPr kumimoji="1" lang="en-US" altLang="ja-JP" dirty="0"/>
              <a:t>100%</a:t>
            </a:r>
          </a:p>
          <a:p>
            <a:endParaRPr kumimoji="1" lang="ja-JP" altLang="en-US" dirty="0"/>
          </a:p>
        </p:txBody>
      </p:sp>
      <p:pic>
        <p:nvPicPr>
          <p:cNvPr id="5" name="図 4">
            <a:extLst>
              <a:ext uri="{FF2B5EF4-FFF2-40B4-BE49-F238E27FC236}">
                <a16:creationId xmlns:a16="http://schemas.microsoft.com/office/drawing/2014/main" id="{6E388170-F132-83D5-BFD9-5BE1433A153A}"/>
              </a:ext>
            </a:extLst>
          </p:cNvPr>
          <p:cNvPicPr>
            <a:picLocks noChangeAspect="1"/>
          </p:cNvPicPr>
          <p:nvPr/>
        </p:nvPicPr>
        <p:blipFill>
          <a:blip r:embed="rId3"/>
          <a:stretch>
            <a:fillRect/>
          </a:stretch>
        </p:blipFill>
        <p:spPr>
          <a:xfrm>
            <a:off x="221402" y="3650231"/>
            <a:ext cx="6160879" cy="2891455"/>
          </a:xfrm>
          <a:prstGeom prst="rect">
            <a:avLst/>
          </a:prstGeom>
        </p:spPr>
      </p:pic>
      <p:pic>
        <p:nvPicPr>
          <p:cNvPr id="7" name="図 6">
            <a:extLst>
              <a:ext uri="{FF2B5EF4-FFF2-40B4-BE49-F238E27FC236}">
                <a16:creationId xmlns:a16="http://schemas.microsoft.com/office/drawing/2014/main" id="{B4B787E0-0498-AC39-1137-B71E0E65504F}"/>
              </a:ext>
            </a:extLst>
          </p:cNvPr>
          <p:cNvPicPr>
            <a:picLocks noChangeAspect="1"/>
          </p:cNvPicPr>
          <p:nvPr/>
        </p:nvPicPr>
        <p:blipFill>
          <a:blip r:embed="rId4"/>
          <a:stretch>
            <a:fillRect/>
          </a:stretch>
        </p:blipFill>
        <p:spPr>
          <a:xfrm>
            <a:off x="6700098" y="3663157"/>
            <a:ext cx="5270500" cy="2891455"/>
          </a:xfrm>
          <a:prstGeom prst="rect">
            <a:avLst/>
          </a:prstGeom>
        </p:spPr>
      </p:pic>
      <p:cxnSp>
        <p:nvCxnSpPr>
          <p:cNvPr id="9" name="直線コネクタ 8">
            <a:extLst>
              <a:ext uri="{FF2B5EF4-FFF2-40B4-BE49-F238E27FC236}">
                <a16:creationId xmlns:a16="http://schemas.microsoft.com/office/drawing/2014/main" id="{1BBEE896-AE66-4C1A-1E77-C3C732EDADB9}"/>
              </a:ext>
            </a:extLst>
          </p:cNvPr>
          <p:cNvCxnSpPr/>
          <p:nvPr/>
        </p:nvCxnSpPr>
        <p:spPr>
          <a:xfrm>
            <a:off x="513503" y="1333500"/>
            <a:ext cx="4375997"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矢印: 右 9">
            <a:extLst>
              <a:ext uri="{FF2B5EF4-FFF2-40B4-BE49-F238E27FC236}">
                <a16:creationId xmlns:a16="http://schemas.microsoft.com/office/drawing/2014/main" id="{4306BE69-853A-7B21-EA07-1B678D613D15}"/>
              </a:ext>
            </a:extLst>
          </p:cNvPr>
          <p:cNvSpPr/>
          <p:nvPr/>
        </p:nvSpPr>
        <p:spPr>
          <a:xfrm rot="13284576">
            <a:off x="1315434" y="4129685"/>
            <a:ext cx="2184400" cy="15367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5063451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EBEADBE-D45E-3F1F-4EBB-0DAE0423D3FC}"/>
              </a:ext>
            </a:extLst>
          </p:cNvPr>
          <p:cNvSpPr>
            <a:spLocks noGrp="1"/>
          </p:cNvSpPr>
          <p:nvPr>
            <p:ph type="title"/>
          </p:nvPr>
        </p:nvSpPr>
        <p:spPr>
          <a:xfrm>
            <a:off x="673100" y="390525"/>
            <a:ext cx="10515600" cy="1325563"/>
          </a:xfrm>
        </p:spPr>
        <p:txBody>
          <a:bodyPr/>
          <a:lstStyle/>
          <a:p>
            <a:r>
              <a:rPr lang="ja-JP" altLang="en-US" dirty="0">
                <a:solidFill>
                  <a:schemeClr val="accent5">
                    <a:lumMod val="75000"/>
                  </a:schemeClr>
                </a:solidFill>
              </a:rPr>
              <a:t>研修前と比べ成長した点、反省点</a:t>
            </a:r>
            <a:endParaRPr kumimoji="1" lang="ja-JP" altLang="en-US" dirty="0">
              <a:solidFill>
                <a:schemeClr val="accent5">
                  <a:lumMod val="75000"/>
                </a:schemeClr>
              </a:solidFill>
            </a:endParaRPr>
          </a:p>
        </p:txBody>
      </p:sp>
      <p:sp>
        <p:nvSpPr>
          <p:cNvPr id="3" name="コンテンツ プレースホルダー 2">
            <a:extLst>
              <a:ext uri="{FF2B5EF4-FFF2-40B4-BE49-F238E27FC236}">
                <a16:creationId xmlns:a16="http://schemas.microsoft.com/office/drawing/2014/main" id="{2957DC61-88BD-05C6-A0BF-E2700493DECE}"/>
              </a:ext>
            </a:extLst>
          </p:cNvPr>
          <p:cNvSpPr>
            <a:spLocks noGrp="1"/>
          </p:cNvSpPr>
          <p:nvPr>
            <p:ph idx="1"/>
          </p:nvPr>
        </p:nvSpPr>
        <p:spPr>
          <a:xfrm>
            <a:off x="1003300" y="2071689"/>
            <a:ext cx="9537700" cy="3109912"/>
          </a:xfrm>
        </p:spPr>
        <p:txBody>
          <a:bodyPr>
            <a:noAutofit/>
          </a:bodyPr>
          <a:lstStyle/>
          <a:p>
            <a:r>
              <a:rPr lang="ja-JP" altLang="en-US" sz="3200" dirty="0"/>
              <a:t>個人開発では簡易的なブラックボックステストぐらいしかしたことがなかったので、研修でのブラック、ホワイトボックステストは新しい技術として身についた。</a:t>
            </a:r>
          </a:p>
          <a:p>
            <a:endParaRPr kumimoji="1" lang="en-US" altLang="ja-JP" sz="3200" dirty="0"/>
          </a:p>
          <a:p>
            <a:r>
              <a:rPr lang="ja-JP" altLang="en-US" sz="3200" dirty="0"/>
              <a:t>日報やテストケースなどで具体性に欠ける内容で書いていたこと。正直まだ治しきれてはいないですが、今後も意識して改善していきたい。</a:t>
            </a:r>
            <a:endParaRPr lang="en-US" altLang="ja-JP" sz="3200" dirty="0"/>
          </a:p>
        </p:txBody>
      </p:sp>
      <p:cxnSp>
        <p:nvCxnSpPr>
          <p:cNvPr id="5" name="直線コネクタ 4">
            <a:extLst>
              <a:ext uri="{FF2B5EF4-FFF2-40B4-BE49-F238E27FC236}">
                <a16:creationId xmlns:a16="http://schemas.microsoft.com/office/drawing/2014/main" id="{02F0C9ED-BB37-7B84-9134-4EF99F66C5CF}"/>
              </a:ext>
            </a:extLst>
          </p:cNvPr>
          <p:cNvCxnSpPr/>
          <p:nvPr/>
        </p:nvCxnSpPr>
        <p:spPr>
          <a:xfrm>
            <a:off x="838200" y="1574800"/>
            <a:ext cx="80137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48331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A6315F5-EDD3-9341-89B6-BE9411C65924}"/>
              </a:ext>
            </a:extLst>
          </p:cNvPr>
          <p:cNvSpPr>
            <a:spLocks noGrp="1"/>
          </p:cNvSpPr>
          <p:nvPr>
            <p:ph type="title"/>
          </p:nvPr>
        </p:nvSpPr>
        <p:spPr>
          <a:xfrm>
            <a:off x="838200" y="670560"/>
            <a:ext cx="10515600" cy="1325562"/>
          </a:xfrm>
        </p:spPr>
        <p:txBody>
          <a:bodyPr/>
          <a:lstStyle/>
          <a:p>
            <a:r>
              <a:rPr lang="ja-JP" altLang="en-US" dirty="0">
                <a:solidFill>
                  <a:schemeClr val="accent5">
                    <a:lumMod val="75000"/>
                  </a:schemeClr>
                </a:solidFill>
              </a:rPr>
              <a:t>研修を通じて困難を感じたこと</a:t>
            </a:r>
            <a:endParaRPr kumimoji="1" lang="ja-JP" altLang="en-US" dirty="0">
              <a:solidFill>
                <a:schemeClr val="accent5">
                  <a:lumMod val="75000"/>
                </a:schemeClr>
              </a:solidFill>
            </a:endParaRPr>
          </a:p>
        </p:txBody>
      </p:sp>
      <p:sp>
        <p:nvSpPr>
          <p:cNvPr id="3" name="コンテンツ プレースホルダー 2">
            <a:extLst>
              <a:ext uri="{FF2B5EF4-FFF2-40B4-BE49-F238E27FC236}">
                <a16:creationId xmlns:a16="http://schemas.microsoft.com/office/drawing/2014/main" id="{E6F60642-8847-9C99-11EA-C08511AD594B}"/>
              </a:ext>
            </a:extLst>
          </p:cNvPr>
          <p:cNvSpPr>
            <a:spLocks noGrp="1"/>
          </p:cNvSpPr>
          <p:nvPr>
            <p:ph idx="1"/>
          </p:nvPr>
        </p:nvSpPr>
        <p:spPr>
          <a:xfrm>
            <a:off x="1378527" y="2552701"/>
            <a:ext cx="9251373" cy="2057400"/>
          </a:xfrm>
        </p:spPr>
        <p:txBody>
          <a:bodyPr>
            <a:normAutofit lnSpcReduction="10000"/>
          </a:bodyPr>
          <a:lstStyle/>
          <a:p>
            <a:pPr marL="0" indent="0">
              <a:buNone/>
            </a:pPr>
            <a:r>
              <a:rPr lang="ja-JP" altLang="en-US" dirty="0"/>
              <a:t>コードの書き方の面でどう書けばいいのか悩んだ箇所が</a:t>
            </a:r>
            <a:r>
              <a:rPr lang="en-US" altLang="ja-JP" dirty="0"/>
              <a:t>3</a:t>
            </a:r>
            <a:r>
              <a:rPr lang="ja-JP" altLang="en-US" dirty="0"/>
              <a:t>か所あったので</a:t>
            </a:r>
            <a:r>
              <a:rPr lang="en-US" altLang="ja-JP" dirty="0"/>
              <a:t>,</a:t>
            </a:r>
            <a:r>
              <a:rPr lang="ja-JP" altLang="en-US" dirty="0"/>
              <a:t>共有の意味を込めて紹介。</a:t>
            </a:r>
            <a:endParaRPr lang="en-US" altLang="ja-JP" dirty="0"/>
          </a:p>
          <a:p>
            <a:pPr marL="0" indent="0">
              <a:buNone/>
            </a:pPr>
            <a:endParaRPr kumimoji="1" lang="en-US" altLang="ja-JP" dirty="0">
              <a:solidFill>
                <a:srgbClr val="0070C0"/>
              </a:solidFill>
            </a:endParaRPr>
          </a:p>
          <a:p>
            <a:pPr marL="0" indent="0">
              <a:buNone/>
            </a:pPr>
            <a:r>
              <a:rPr kumimoji="1" lang="ja-JP" altLang="en-US" dirty="0"/>
              <a:t>自分なりにまとめましたが、間違っている箇所があれば後で指摘してもらいたい。</a:t>
            </a:r>
          </a:p>
        </p:txBody>
      </p:sp>
      <p:cxnSp>
        <p:nvCxnSpPr>
          <p:cNvPr id="5" name="直線コネクタ 4">
            <a:extLst>
              <a:ext uri="{FF2B5EF4-FFF2-40B4-BE49-F238E27FC236}">
                <a16:creationId xmlns:a16="http://schemas.microsoft.com/office/drawing/2014/main" id="{EB928C37-CC3C-34A9-C41E-D2BE967B91D7}"/>
              </a:ext>
            </a:extLst>
          </p:cNvPr>
          <p:cNvCxnSpPr/>
          <p:nvPr/>
        </p:nvCxnSpPr>
        <p:spPr>
          <a:xfrm>
            <a:off x="838200" y="1841500"/>
            <a:ext cx="72517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80351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393459C-86DA-BB6D-422C-165DD19E05DD}"/>
              </a:ext>
            </a:extLst>
          </p:cNvPr>
          <p:cNvSpPr>
            <a:spLocks noGrp="1"/>
          </p:cNvSpPr>
          <p:nvPr>
            <p:ph type="title"/>
          </p:nvPr>
        </p:nvSpPr>
        <p:spPr/>
        <p:txBody>
          <a:bodyPr/>
          <a:lstStyle/>
          <a:p>
            <a:r>
              <a:rPr kumimoji="1" lang="en-US" altLang="ja-JP" dirty="0">
                <a:solidFill>
                  <a:schemeClr val="accent5">
                    <a:lumMod val="75000"/>
                  </a:schemeClr>
                </a:solidFill>
              </a:rPr>
              <a:t>1. Var</a:t>
            </a:r>
            <a:r>
              <a:rPr lang="ja-JP" altLang="en-US" dirty="0">
                <a:solidFill>
                  <a:schemeClr val="accent5">
                    <a:lumMod val="75000"/>
                  </a:schemeClr>
                </a:solidFill>
              </a:rPr>
              <a:t>を使用するかどうか</a:t>
            </a:r>
            <a:endParaRPr kumimoji="1" lang="ja-JP" altLang="en-US" dirty="0">
              <a:solidFill>
                <a:schemeClr val="accent5">
                  <a:lumMod val="75000"/>
                </a:schemeClr>
              </a:solidFill>
            </a:endParaRPr>
          </a:p>
        </p:txBody>
      </p:sp>
      <p:sp>
        <p:nvSpPr>
          <p:cNvPr id="3" name="コンテンツ プレースホルダー 2">
            <a:extLst>
              <a:ext uri="{FF2B5EF4-FFF2-40B4-BE49-F238E27FC236}">
                <a16:creationId xmlns:a16="http://schemas.microsoft.com/office/drawing/2014/main" id="{6087F1AF-82B0-1B03-158D-6DF50F7735B2}"/>
              </a:ext>
            </a:extLst>
          </p:cNvPr>
          <p:cNvSpPr>
            <a:spLocks noGrp="1"/>
          </p:cNvSpPr>
          <p:nvPr>
            <p:ph idx="1"/>
          </p:nvPr>
        </p:nvSpPr>
        <p:spPr>
          <a:xfrm>
            <a:off x="1001485" y="1723457"/>
            <a:ext cx="10515600" cy="456973"/>
          </a:xfrm>
        </p:spPr>
        <p:txBody>
          <a:bodyPr>
            <a:normAutofit lnSpcReduction="10000"/>
          </a:bodyPr>
          <a:lstStyle/>
          <a:p>
            <a:pPr marL="0" indent="0">
              <a:buNone/>
            </a:pPr>
            <a:r>
              <a:rPr kumimoji="1" lang="en-US" altLang="ja-JP" dirty="0"/>
              <a:t>Var</a:t>
            </a:r>
            <a:r>
              <a:rPr kumimoji="1" lang="ja-JP" altLang="en-US" dirty="0"/>
              <a:t>を使うことで</a:t>
            </a:r>
            <a:r>
              <a:rPr lang="ja-JP" altLang="en-US" dirty="0"/>
              <a:t>長い型名を３文字で記述することができる</a:t>
            </a:r>
            <a:endParaRPr kumimoji="1" lang="ja-JP" altLang="en-US" dirty="0"/>
          </a:p>
        </p:txBody>
      </p:sp>
      <p:pic>
        <p:nvPicPr>
          <p:cNvPr id="5" name="図 4">
            <a:extLst>
              <a:ext uri="{FF2B5EF4-FFF2-40B4-BE49-F238E27FC236}">
                <a16:creationId xmlns:a16="http://schemas.microsoft.com/office/drawing/2014/main" id="{A2ED4CCA-D6DC-69A7-FB91-5BFD6DE0FA9D}"/>
              </a:ext>
            </a:extLst>
          </p:cNvPr>
          <p:cNvPicPr>
            <a:picLocks noChangeAspect="1"/>
          </p:cNvPicPr>
          <p:nvPr/>
        </p:nvPicPr>
        <p:blipFill>
          <a:blip r:embed="rId2"/>
          <a:stretch>
            <a:fillRect/>
          </a:stretch>
        </p:blipFill>
        <p:spPr>
          <a:xfrm>
            <a:off x="205160" y="2348455"/>
            <a:ext cx="5477735" cy="881100"/>
          </a:xfrm>
          <a:prstGeom prst="rect">
            <a:avLst/>
          </a:prstGeom>
        </p:spPr>
      </p:pic>
      <p:pic>
        <p:nvPicPr>
          <p:cNvPr id="9" name="図 8">
            <a:extLst>
              <a:ext uri="{FF2B5EF4-FFF2-40B4-BE49-F238E27FC236}">
                <a16:creationId xmlns:a16="http://schemas.microsoft.com/office/drawing/2014/main" id="{1D562A14-6F18-8491-64CE-33D6052DAC7B}"/>
              </a:ext>
            </a:extLst>
          </p:cNvPr>
          <p:cNvPicPr>
            <a:picLocks noChangeAspect="1"/>
          </p:cNvPicPr>
          <p:nvPr/>
        </p:nvPicPr>
        <p:blipFill>
          <a:blip r:embed="rId3"/>
          <a:stretch>
            <a:fillRect/>
          </a:stretch>
        </p:blipFill>
        <p:spPr>
          <a:xfrm>
            <a:off x="6901542" y="2348455"/>
            <a:ext cx="5194155" cy="881100"/>
          </a:xfrm>
          <a:prstGeom prst="rect">
            <a:avLst/>
          </a:prstGeom>
        </p:spPr>
      </p:pic>
      <p:sp>
        <p:nvSpPr>
          <p:cNvPr id="14" name="コンテンツ プレースホルダー 2">
            <a:extLst>
              <a:ext uri="{FF2B5EF4-FFF2-40B4-BE49-F238E27FC236}">
                <a16:creationId xmlns:a16="http://schemas.microsoft.com/office/drawing/2014/main" id="{F0BD89ED-75AA-A680-85BF-D80E31C4F6DE}"/>
              </a:ext>
            </a:extLst>
          </p:cNvPr>
          <p:cNvSpPr txBox="1">
            <a:spLocks/>
          </p:cNvSpPr>
          <p:nvPr/>
        </p:nvSpPr>
        <p:spPr>
          <a:xfrm>
            <a:off x="1001485" y="3737771"/>
            <a:ext cx="10515600" cy="81960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marL="0" indent="0">
              <a:buFont typeface="Wingdings 2" pitchFamily="18" charset="2"/>
              <a:buNone/>
            </a:pPr>
            <a:r>
              <a:rPr lang="ja-JP" altLang="en-US" dirty="0"/>
              <a:t>人によって考え方が違うのでチームの方針に合わせるべき</a:t>
            </a:r>
          </a:p>
        </p:txBody>
      </p:sp>
      <p:sp>
        <p:nvSpPr>
          <p:cNvPr id="15" name="テキスト ボックス 14">
            <a:extLst>
              <a:ext uri="{FF2B5EF4-FFF2-40B4-BE49-F238E27FC236}">
                <a16:creationId xmlns:a16="http://schemas.microsoft.com/office/drawing/2014/main" id="{B217FEA8-9F9A-6006-B877-FB7A23AC0DC9}"/>
              </a:ext>
            </a:extLst>
          </p:cNvPr>
          <p:cNvSpPr txBox="1"/>
          <p:nvPr/>
        </p:nvSpPr>
        <p:spPr>
          <a:xfrm>
            <a:off x="1001485" y="4360390"/>
            <a:ext cx="10923814" cy="1754326"/>
          </a:xfrm>
          <a:prstGeom prst="rect">
            <a:avLst/>
          </a:prstGeom>
          <a:noFill/>
        </p:spPr>
        <p:txBody>
          <a:bodyPr wrap="square" rtlCol="0">
            <a:spAutoFit/>
          </a:bodyPr>
          <a:lstStyle/>
          <a:p>
            <a:pPr marL="285750" indent="-285750">
              <a:buFont typeface="Arial" panose="020B0604020202020204" pitchFamily="34" charset="0"/>
              <a:buChar char="•"/>
            </a:pPr>
            <a:r>
              <a:rPr lang="ja-JP" altLang="en-US" sz="2400" dirty="0">
                <a:solidFill>
                  <a:srgbClr val="C00000"/>
                </a:solidFill>
              </a:rPr>
              <a:t>メソッド名や変数名から型が不明瞭な場合は</a:t>
            </a:r>
            <a:r>
              <a:rPr lang="en-US" altLang="ja-JP" sz="2400" dirty="0">
                <a:solidFill>
                  <a:srgbClr val="C00000"/>
                </a:solidFill>
              </a:rPr>
              <a:t>var</a:t>
            </a:r>
            <a:r>
              <a:rPr lang="ja-JP" altLang="en-US" sz="2400" dirty="0">
                <a:solidFill>
                  <a:srgbClr val="C00000"/>
                </a:solidFill>
              </a:rPr>
              <a:t>を使わない</a:t>
            </a:r>
            <a:endParaRPr lang="en-US" altLang="ja-JP" sz="2400" dirty="0">
              <a:solidFill>
                <a:srgbClr val="C00000"/>
              </a:solidFill>
            </a:endParaRPr>
          </a:p>
          <a:p>
            <a:pPr marL="285750" indent="-285750">
              <a:buFont typeface="Arial" panose="020B0604020202020204" pitchFamily="34" charset="0"/>
              <a:buChar char="•"/>
            </a:pPr>
            <a:r>
              <a:rPr lang="en-US" altLang="ja-JP" sz="2400" dirty="0"/>
              <a:t>Foreach</a:t>
            </a:r>
            <a:r>
              <a:rPr lang="ja-JP" altLang="en-US" sz="2400" dirty="0"/>
              <a:t>の中などは</a:t>
            </a:r>
            <a:r>
              <a:rPr lang="en-US" altLang="ja-JP" sz="2400" dirty="0"/>
              <a:t>var</a:t>
            </a:r>
            <a:r>
              <a:rPr lang="ja-JP" altLang="en-US" sz="2400" dirty="0"/>
              <a:t>を使う</a:t>
            </a:r>
            <a:endParaRPr lang="en-US" altLang="ja-JP" sz="2400" dirty="0"/>
          </a:p>
          <a:p>
            <a:pPr marL="285750" indent="-285750">
              <a:buFont typeface="Arial" panose="020B0604020202020204" pitchFamily="34" charset="0"/>
              <a:buChar char="•"/>
            </a:pPr>
            <a:r>
              <a:rPr lang="ja-JP" altLang="en-US" sz="2400" dirty="0"/>
              <a:t>配列やインスタンスの作成時は省略しないほうが短く書くことができる</a:t>
            </a:r>
            <a:endParaRPr lang="en-US" altLang="ja-JP" sz="2400" dirty="0"/>
          </a:p>
          <a:p>
            <a:pPr marL="285750" indent="-285750">
              <a:buFont typeface="Arial" panose="020B0604020202020204" pitchFamily="34" charset="0"/>
              <a:buChar char="•"/>
            </a:pPr>
            <a:endParaRPr lang="en-US" altLang="ja-JP" dirty="0"/>
          </a:p>
          <a:p>
            <a:pPr marL="285750" indent="-285750">
              <a:buFont typeface="Arial" panose="020B0604020202020204" pitchFamily="34" charset="0"/>
              <a:buChar char="•"/>
            </a:pPr>
            <a:endParaRPr lang="en-US" altLang="ja-JP" dirty="0"/>
          </a:p>
        </p:txBody>
      </p:sp>
      <p:cxnSp>
        <p:nvCxnSpPr>
          <p:cNvPr id="17" name="直線コネクタ 16">
            <a:extLst>
              <a:ext uri="{FF2B5EF4-FFF2-40B4-BE49-F238E27FC236}">
                <a16:creationId xmlns:a16="http://schemas.microsoft.com/office/drawing/2014/main" id="{6B3F301F-F2EB-B3FE-2952-0AF1D47E072F}"/>
              </a:ext>
            </a:extLst>
          </p:cNvPr>
          <p:cNvCxnSpPr/>
          <p:nvPr/>
        </p:nvCxnSpPr>
        <p:spPr>
          <a:xfrm>
            <a:off x="845127" y="1422400"/>
            <a:ext cx="5911273"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90156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617BA73-E2F9-FAD6-33E7-0414BDE365C0}"/>
              </a:ext>
            </a:extLst>
          </p:cNvPr>
          <p:cNvSpPr>
            <a:spLocks noGrp="1"/>
          </p:cNvSpPr>
          <p:nvPr>
            <p:ph type="title"/>
          </p:nvPr>
        </p:nvSpPr>
        <p:spPr/>
        <p:txBody>
          <a:bodyPr/>
          <a:lstStyle/>
          <a:p>
            <a:r>
              <a:rPr kumimoji="1" lang="en-US" altLang="ja-JP" dirty="0">
                <a:solidFill>
                  <a:schemeClr val="accent5">
                    <a:lumMod val="75000"/>
                  </a:schemeClr>
                </a:solidFill>
              </a:rPr>
              <a:t>2. </a:t>
            </a:r>
            <a:r>
              <a:rPr kumimoji="1" lang="ja-JP" altLang="en-US" dirty="0">
                <a:solidFill>
                  <a:schemeClr val="accent5">
                    <a:lumMod val="75000"/>
                  </a:schemeClr>
                </a:solidFill>
              </a:rPr>
              <a:t>名前付き引数を使用するかどうか</a:t>
            </a:r>
          </a:p>
        </p:txBody>
      </p:sp>
      <p:sp>
        <p:nvSpPr>
          <p:cNvPr id="3" name="コンテンツ プレースホルダー 2">
            <a:extLst>
              <a:ext uri="{FF2B5EF4-FFF2-40B4-BE49-F238E27FC236}">
                <a16:creationId xmlns:a16="http://schemas.microsoft.com/office/drawing/2014/main" id="{F3D91A53-9A04-4A7F-F000-0D3CB076504D}"/>
              </a:ext>
            </a:extLst>
          </p:cNvPr>
          <p:cNvSpPr>
            <a:spLocks noGrp="1"/>
          </p:cNvSpPr>
          <p:nvPr>
            <p:ph idx="1"/>
          </p:nvPr>
        </p:nvSpPr>
        <p:spPr>
          <a:xfrm>
            <a:off x="958148" y="1622473"/>
            <a:ext cx="10605667" cy="1325563"/>
          </a:xfrm>
        </p:spPr>
        <p:txBody>
          <a:bodyPr>
            <a:normAutofit fontScale="85000" lnSpcReduction="10000"/>
          </a:bodyPr>
          <a:lstStyle/>
          <a:p>
            <a:pPr marL="0" indent="0">
              <a:buNone/>
            </a:pPr>
            <a:r>
              <a:rPr kumimoji="1" lang="ja-JP" altLang="en-US" dirty="0"/>
              <a:t>名前付き引数を使用することで引数がどのパラメータに対応するのかぱっとみで分かるようになる。</a:t>
            </a:r>
            <a:endParaRPr kumimoji="1" lang="en-US" altLang="ja-JP" dirty="0"/>
          </a:p>
          <a:p>
            <a:pPr marL="0" indent="0">
              <a:buNone/>
            </a:pPr>
            <a:r>
              <a:rPr kumimoji="1" lang="ja-JP" altLang="en-US" dirty="0"/>
              <a:t>引数が複数ある場合に対応するパラメータに明示的に指定することができる</a:t>
            </a:r>
          </a:p>
        </p:txBody>
      </p:sp>
      <p:pic>
        <p:nvPicPr>
          <p:cNvPr id="5" name="図 4">
            <a:extLst>
              <a:ext uri="{FF2B5EF4-FFF2-40B4-BE49-F238E27FC236}">
                <a16:creationId xmlns:a16="http://schemas.microsoft.com/office/drawing/2014/main" id="{CFF4AE2C-96B1-4AC5-09A0-266D96C9E901}"/>
              </a:ext>
            </a:extLst>
          </p:cNvPr>
          <p:cNvPicPr>
            <a:picLocks noChangeAspect="1"/>
          </p:cNvPicPr>
          <p:nvPr/>
        </p:nvPicPr>
        <p:blipFill>
          <a:blip r:embed="rId2"/>
          <a:stretch>
            <a:fillRect/>
          </a:stretch>
        </p:blipFill>
        <p:spPr>
          <a:xfrm>
            <a:off x="958148" y="2879820"/>
            <a:ext cx="7741790" cy="481711"/>
          </a:xfrm>
          <a:prstGeom prst="rect">
            <a:avLst/>
          </a:prstGeom>
        </p:spPr>
      </p:pic>
      <p:pic>
        <p:nvPicPr>
          <p:cNvPr id="7" name="図 6">
            <a:extLst>
              <a:ext uri="{FF2B5EF4-FFF2-40B4-BE49-F238E27FC236}">
                <a16:creationId xmlns:a16="http://schemas.microsoft.com/office/drawing/2014/main" id="{F46D3B22-1366-794C-8253-2C4225598059}"/>
              </a:ext>
            </a:extLst>
          </p:cNvPr>
          <p:cNvPicPr>
            <a:picLocks noChangeAspect="1"/>
          </p:cNvPicPr>
          <p:nvPr/>
        </p:nvPicPr>
        <p:blipFill>
          <a:blip r:embed="rId3"/>
          <a:stretch>
            <a:fillRect/>
          </a:stretch>
        </p:blipFill>
        <p:spPr>
          <a:xfrm>
            <a:off x="958148" y="3429000"/>
            <a:ext cx="10395652" cy="481711"/>
          </a:xfrm>
          <a:prstGeom prst="rect">
            <a:avLst/>
          </a:prstGeom>
        </p:spPr>
      </p:pic>
      <p:sp>
        <p:nvSpPr>
          <p:cNvPr id="11" name="テキスト ボックス 10">
            <a:extLst>
              <a:ext uri="{FF2B5EF4-FFF2-40B4-BE49-F238E27FC236}">
                <a16:creationId xmlns:a16="http://schemas.microsoft.com/office/drawing/2014/main" id="{086A1ED7-1700-25DD-3A66-4F4A3E07EAF3}"/>
              </a:ext>
            </a:extLst>
          </p:cNvPr>
          <p:cNvSpPr txBox="1"/>
          <p:nvPr/>
        </p:nvSpPr>
        <p:spPr>
          <a:xfrm>
            <a:off x="1239713" y="4130065"/>
            <a:ext cx="9832521" cy="523220"/>
          </a:xfrm>
          <a:prstGeom prst="rect">
            <a:avLst/>
          </a:prstGeom>
          <a:noFill/>
        </p:spPr>
        <p:txBody>
          <a:bodyPr wrap="square">
            <a:spAutoFit/>
          </a:bodyPr>
          <a:lstStyle/>
          <a:p>
            <a:pPr marL="0" indent="0">
              <a:buNone/>
            </a:pPr>
            <a:r>
              <a:rPr lang="ja-JP" altLang="en-US" sz="2800" dirty="0"/>
              <a:t>人によって考え方が違うので</a:t>
            </a:r>
            <a:r>
              <a:rPr kumimoji="1" lang="ja-JP" altLang="en-US" sz="2800" dirty="0"/>
              <a:t>チームの方針に合わせるべき</a:t>
            </a:r>
          </a:p>
        </p:txBody>
      </p:sp>
      <p:sp>
        <p:nvSpPr>
          <p:cNvPr id="12" name="テキスト ボックス 11">
            <a:extLst>
              <a:ext uri="{FF2B5EF4-FFF2-40B4-BE49-F238E27FC236}">
                <a16:creationId xmlns:a16="http://schemas.microsoft.com/office/drawing/2014/main" id="{1B321678-3825-4731-CB4D-E1250B7F2DE2}"/>
              </a:ext>
            </a:extLst>
          </p:cNvPr>
          <p:cNvSpPr txBox="1"/>
          <p:nvPr/>
        </p:nvSpPr>
        <p:spPr>
          <a:xfrm>
            <a:off x="1045493" y="4872639"/>
            <a:ext cx="10518322" cy="1569660"/>
          </a:xfrm>
          <a:prstGeom prst="rect">
            <a:avLst/>
          </a:prstGeom>
          <a:noFill/>
        </p:spPr>
        <p:txBody>
          <a:bodyPr wrap="square">
            <a:spAutoFit/>
          </a:bodyPr>
          <a:lstStyle/>
          <a:p>
            <a:pPr marL="285750" indent="-285750">
              <a:buFont typeface="Arial" panose="020B0604020202020204" pitchFamily="34" charset="0"/>
              <a:buChar char="•"/>
            </a:pPr>
            <a:r>
              <a:rPr lang="ja-JP" altLang="en-US" sz="2400" dirty="0">
                <a:solidFill>
                  <a:srgbClr val="C00000"/>
                </a:solidFill>
              </a:rPr>
              <a:t>引数が１つの時は使わない</a:t>
            </a:r>
            <a:endParaRPr lang="en-US" altLang="ja-JP" sz="2400" dirty="0">
              <a:solidFill>
                <a:srgbClr val="C00000"/>
              </a:solidFill>
            </a:endParaRPr>
          </a:p>
          <a:p>
            <a:pPr marL="285750" indent="-285750">
              <a:buFont typeface="Arial" panose="020B0604020202020204" pitchFamily="34" charset="0"/>
              <a:buChar char="•"/>
            </a:pPr>
            <a:r>
              <a:rPr lang="ja-JP" altLang="en-US" sz="2400" dirty="0">
                <a:solidFill>
                  <a:srgbClr val="C00000"/>
                </a:solidFill>
              </a:rPr>
              <a:t>複数の引数があり、かつ同じ型のものがあるならつける。</a:t>
            </a:r>
            <a:endParaRPr lang="en-US" altLang="ja-JP" sz="2400" dirty="0">
              <a:solidFill>
                <a:srgbClr val="C00000"/>
              </a:solidFill>
            </a:endParaRPr>
          </a:p>
          <a:p>
            <a:pPr marL="285750" indent="-285750">
              <a:buFont typeface="Arial" panose="020B0604020202020204" pitchFamily="34" charset="0"/>
              <a:buChar char="•"/>
            </a:pPr>
            <a:r>
              <a:rPr lang="ja-JP" altLang="en-US" sz="2400" dirty="0"/>
              <a:t>名前を付けても説明が増えないなら使わない</a:t>
            </a:r>
            <a:endParaRPr lang="en-US" altLang="ja-JP" sz="2400" dirty="0"/>
          </a:p>
          <a:p>
            <a:pPr marL="285750" indent="-285750">
              <a:buFont typeface="Arial" panose="020B0604020202020204" pitchFamily="34" charset="0"/>
              <a:buChar char="•"/>
            </a:pPr>
            <a:endParaRPr lang="en-US" altLang="ja-JP" sz="2400" dirty="0"/>
          </a:p>
        </p:txBody>
      </p:sp>
      <p:cxnSp>
        <p:nvCxnSpPr>
          <p:cNvPr id="14" name="直線コネクタ 13">
            <a:extLst>
              <a:ext uri="{FF2B5EF4-FFF2-40B4-BE49-F238E27FC236}">
                <a16:creationId xmlns:a16="http://schemas.microsoft.com/office/drawing/2014/main" id="{1FE7A939-5417-4AB7-FBA1-F659B4088599}"/>
              </a:ext>
            </a:extLst>
          </p:cNvPr>
          <p:cNvCxnSpPr/>
          <p:nvPr/>
        </p:nvCxnSpPr>
        <p:spPr>
          <a:xfrm>
            <a:off x="958148" y="1384300"/>
            <a:ext cx="8363652"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57910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3B87CC7-ED16-0354-5641-BCC8563E274A}"/>
              </a:ext>
            </a:extLst>
          </p:cNvPr>
          <p:cNvSpPr>
            <a:spLocks noGrp="1"/>
          </p:cNvSpPr>
          <p:nvPr>
            <p:ph type="title"/>
          </p:nvPr>
        </p:nvSpPr>
        <p:spPr/>
        <p:txBody>
          <a:bodyPr/>
          <a:lstStyle/>
          <a:p>
            <a:r>
              <a:rPr kumimoji="1" lang="en-US" altLang="ja-JP" dirty="0">
                <a:solidFill>
                  <a:schemeClr val="accent5">
                    <a:lumMod val="75000"/>
                  </a:schemeClr>
                </a:solidFill>
              </a:rPr>
              <a:t>3. Null</a:t>
            </a:r>
            <a:r>
              <a:rPr kumimoji="1" lang="ja-JP" altLang="en-US" dirty="0">
                <a:solidFill>
                  <a:schemeClr val="accent5">
                    <a:lumMod val="75000"/>
                  </a:schemeClr>
                </a:solidFill>
              </a:rPr>
              <a:t>の場合の処理</a:t>
            </a:r>
          </a:p>
        </p:txBody>
      </p:sp>
      <p:sp>
        <p:nvSpPr>
          <p:cNvPr id="3" name="コンテンツ プレースホルダー 2">
            <a:extLst>
              <a:ext uri="{FF2B5EF4-FFF2-40B4-BE49-F238E27FC236}">
                <a16:creationId xmlns:a16="http://schemas.microsoft.com/office/drawing/2014/main" id="{D0C9FF9E-092F-8DCD-BC42-3C94F921A6D2}"/>
              </a:ext>
            </a:extLst>
          </p:cNvPr>
          <p:cNvSpPr>
            <a:spLocks noGrp="1"/>
          </p:cNvSpPr>
          <p:nvPr>
            <p:ph idx="1"/>
          </p:nvPr>
        </p:nvSpPr>
        <p:spPr>
          <a:xfrm>
            <a:off x="838200" y="1466396"/>
            <a:ext cx="10515600" cy="1135290"/>
          </a:xfrm>
        </p:spPr>
        <p:txBody>
          <a:bodyPr>
            <a:normAutofit/>
          </a:bodyPr>
          <a:lstStyle/>
          <a:p>
            <a:pPr marL="0" indent="0">
              <a:buNone/>
            </a:pPr>
            <a:r>
              <a:rPr kumimoji="1" lang="ja-JP" altLang="en-US" dirty="0"/>
              <a:t>変数が</a:t>
            </a:r>
            <a:r>
              <a:rPr kumimoji="1" lang="en-US" altLang="ja-JP" dirty="0"/>
              <a:t>null</a:t>
            </a:r>
            <a:r>
              <a:rPr kumimoji="1" lang="ja-JP" altLang="en-US" dirty="0"/>
              <a:t>の場合の処理を考慮しないために</a:t>
            </a:r>
            <a:r>
              <a:rPr lang="ja-JP" altLang="en-US" dirty="0"/>
              <a:t>！や</a:t>
            </a:r>
            <a:r>
              <a:rPr lang="en-US" altLang="ja-JP" dirty="0"/>
              <a:t>(int)</a:t>
            </a:r>
            <a:r>
              <a:rPr lang="ja-JP" altLang="en-US" dirty="0"/>
              <a:t>、</a:t>
            </a:r>
            <a:r>
              <a:rPr lang="en-US" altLang="ja-JP" dirty="0"/>
              <a:t>.Value</a:t>
            </a:r>
            <a:r>
              <a:rPr lang="ja-JP" altLang="en-US" dirty="0"/>
              <a:t>を用いることができるが実際の開発ではあまり用いるべきではない。</a:t>
            </a:r>
            <a:endParaRPr lang="en-US" altLang="ja-JP" dirty="0"/>
          </a:p>
          <a:p>
            <a:pPr marL="0" indent="0">
              <a:buNone/>
            </a:pPr>
            <a:endParaRPr lang="en-US" altLang="ja-JP" dirty="0"/>
          </a:p>
          <a:p>
            <a:pPr marL="0" indent="0">
              <a:buNone/>
            </a:pPr>
            <a:endParaRPr lang="en-US" altLang="ja-JP" dirty="0"/>
          </a:p>
          <a:p>
            <a:pPr marL="0" indent="0">
              <a:buNone/>
            </a:pPr>
            <a:endParaRPr kumimoji="1" lang="ja-JP" altLang="en-US" dirty="0"/>
          </a:p>
        </p:txBody>
      </p:sp>
      <p:sp>
        <p:nvSpPr>
          <p:cNvPr id="4" name="テキスト ボックス 3">
            <a:extLst>
              <a:ext uri="{FF2B5EF4-FFF2-40B4-BE49-F238E27FC236}">
                <a16:creationId xmlns:a16="http://schemas.microsoft.com/office/drawing/2014/main" id="{020FE0CC-3AA4-4554-1963-1DC9CEC816DB}"/>
              </a:ext>
            </a:extLst>
          </p:cNvPr>
          <p:cNvSpPr txBox="1"/>
          <p:nvPr/>
        </p:nvSpPr>
        <p:spPr>
          <a:xfrm>
            <a:off x="838200" y="2791959"/>
            <a:ext cx="8262258" cy="800219"/>
          </a:xfrm>
          <a:prstGeom prst="rect">
            <a:avLst/>
          </a:prstGeom>
          <a:noFill/>
        </p:spPr>
        <p:txBody>
          <a:bodyPr wrap="square" rtlCol="0">
            <a:spAutoFit/>
          </a:bodyPr>
          <a:lstStyle/>
          <a:p>
            <a:r>
              <a:rPr lang="en-US" altLang="ja-JP" sz="2800" dirty="0"/>
              <a:t>Null</a:t>
            </a:r>
            <a:r>
              <a:rPr lang="ja-JP" altLang="en-US" sz="2800" dirty="0"/>
              <a:t>の場合の処理も考慮したコードを書く。</a:t>
            </a:r>
            <a:endParaRPr lang="en-US" altLang="ja-JP" sz="2800" dirty="0"/>
          </a:p>
          <a:p>
            <a:endParaRPr kumimoji="1" lang="ja-JP" altLang="en-US" dirty="0"/>
          </a:p>
        </p:txBody>
      </p:sp>
      <p:sp>
        <p:nvSpPr>
          <p:cNvPr id="8" name="テキスト ボックス 7">
            <a:extLst>
              <a:ext uri="{FF2B5EF4-FFF2-40B4-BE49-F238E27FC236}">
                <a16:creationId xmlns:a16="http://schemas.microsoft.com/office/drawing/2014/main" id="{AE63766E-71D0-F96D-9512-69D0734B1F67}"/>
              </a:ext>
            </a:extLst>
          </p:cNvPr>
          <p:cNvSpPr txBox="1"/>
          <p:nvPr/>
        </p:nvSpPr>
        <p:spPr>
          <a:xfrm>
            <a:off x="1152142" y="3429000"/>
            <a:ext cx="9561143" cy="830997"/>
          </a:xfrm>
          <a:prstGeom prst="rect">
            <a:avLst/>
          </a:prstGeom>
          <a:noFill/>
        </p:spPr>
        <p:txBody>
          <a:bodyPr wrap="square">
            <a:spAutoFit/>
          </a:bodyPr>
          <a:lstStyle/>
          <a:p>
            <a:pPr marL="457200" indent="-457200">
              <a:buFont typeface="Arial" panose="020B0604020202020204" pitchFamily="34" charset="0"/>
              <a:buChar char="•"/>
            </a:pPr>
            <a:r>
              <a:rPr lang="en-US" altLang="ja-JP" sz="2400" dirty="0"/>
              <a:t>Is null</a:t>
            </a:r>
            <a:r>
              <a:rPr lang="ja-JP" altLang="en-US" sz="2400" dirty="0"/>
              <a:t>を用いてガード節を作成する。ガード節より下はコンパイラによって</a:t>
            </a:r>
            <a:r>
              <a:rPr lang="en-US" altLang="ja-JP" sz="2400" dirty="0"/>
              <a:t>null</a:t>
            </a:r>
            <a:r>
              <a:rPr lang="ja-JP" altLang="en-US" sz="2400" dirty="0"/>
              <a:t>でないと判断される</a:t>
            </a:r>
            <a:endParaRPr kumimoji="1" lang="en-US" altLang="ja-JP" sz="2400" dirty="0"/>
          </a:p>
        </p:txBody>
      </p:sp>
      <p:pic>
        <p:nvPicPr>
          <p:cNvPr id="10" name="図 9">
            <a:extLst>
              <a:ext uri="{FF2B5EF4-FFF2-40B4-BE49-F238E27FC236}">
                <a16:creationId xmlns:a16="http://schemas.microsoft.com/office/drawing/2014/main" id="{69E808D9-BA81-823A-44C4-3E085986A11F}"/>
              </a:ext>
            </a:extLst>
          </p:cNvPr>
          <p:cNvPicPr>
            <a:picLocks noChangeAspect="1"/>
          </p:cNvPicPr>
          <p:nvPr/>
        </p:nvPicPr>
        <p:blipFill>
          <a:blip r:embed="rId2"/>
          <a:stretch>
            <a:fillRect/>
          </a:stretch>
        </p:blipFill>
        <p:spPr>
          <a:xfrm>
            <a:off x="1255629" y="4381392"/>
            <a:ext cx="8933257" cy="1801666"/>
          </a:xfrm>
          <a:prstGeom prst="rect">
            <a:avLst/>
          </a:prstGeom>
        </p:spPr>
      </p:pic>
      <p:cxnSp>
        <p:nvCxnSpPr>
          <p:cNvPr id="12" name="直線コネクタ 11">
            <a:extLst>
              <a:ext uri="{FF2B5EF4-FFF2-40B4-BE49-F238E27FC236}">
                <a16:creationId xmlns:a16="http://schemas.microsoft.com/office/drawing/2014/main" id="{B588E9C5-6C0F-1C93-CC62-3F639AABB4D0}"/>
              </a:ext>
            </a:extLst>
          </p:cNvPr>
          <p:cNvCxnSpPr/>
          <p:nvPr/>
        </p:nvCxnSpPr>
        <p:spPr>
          <a:xfrm>
            <a:off x="939800" y="1308100"/>
            <a:ext cx="50419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05139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74ABED7-FB90-5B45-D6F4-62E7F4D4E87E}"/>
              </a:ext>
            </a:extLst>
          </p:cNvPr>
          <p:cNvSpPr>
            <a:spLocks noGrp="1"/>
          </p:cNvSpPr>
          <p:nvPr>
            <p:ph type="title"/>
          </p:nvPr>
        </p:nvSpPr>
        <p:spPr>
          <a:xfrm>
            <a:off x="292100" y="997114"/>
            <a:ext cx="11607800" cy="1325563"/>
          </a:xfrm>
        </p:spPr>
        <p:txBody>
          <a:bodyPr>
            <a:normAutofit/>
          </a:bodyPr>
          <a:lstStyle/>
          <a:p>
            <a:r>
              <a:rPr lang="ja-JP" altLang="en-US" dirty="0">
                <a:solidFill>
                  <a:schemeClr val="accent5">
                    <a:lumMod val="75000"/>
                  </a:schemeClr>
                </a:solidFill>
              </a:rPr>
              <a:t>自分が感じた技術者として必要な要素</a:t>
            </a:r>
            <a:endParaRPr kumimoji="1" lang="ja-JP" altLang="en-US" dirty="0">
              <a:solidFill>
                <a:schemeClr val="accent5">
                  <a:lumMod val="75000"/>
                </a:schemeClr>
              </a:solidFill>
            </a:endParaRPr>
          </a:p>
        </p:txBody>
      </p:sp>
      <p:sp>
        <p:nvSpPr>
          <p:cNvPr id="3" name="コンテンツ プレースホルダー 2">
            <a:extLst>
              <a:ext uri="{FF2B5EF4-FFF2-40B4-BE49-F238E27FC236}">
                <a16:creationId xmlns:a16="http://schemas.microsoft.com/office/drawing/2014/main" id="{54D1D758-006B-9137-51BF-A043192FA3D9}"/>
              </a:ext>
            </a:extLst>
          </p:cNvPr>
          <p:cNvSpPr>
            <a:spLocks noGrp="1"/>
          </p:cNvSpPr>
          <p:nvPr>
            <p:ph idx="1"/>
          </p:nvPr>
        </p:nvSpPr>
        <p:spPr>
          <a:xfrm>
            <a:off x="1064887" y="2322677"/>
            <a:ext cx="9499600" cy="3637447"/>
          </a:xfrm>
        </p:spPr>
        <p:txBody>
          <a:bodyPr>
            <a:normAutofit fontScale="92500" lnSpcReduction="10000"/>
          </a:bodyPr>
          <a:lstStyle/>
          <a:p>
            <a:pPr marL="0" indent="0">
              <a:buNone/>
            </a:pPr>
            <a:endParaRPr lang="en-US" altLang="ja-JP" sz="3000" dirty="0"/>
          </a:p>
          <a:p>
            <a:pPr marL="0" indent="0">
              <a:buNone/>
            </a:pPr>
            <a:r>
              <a:rPr kumimoji="1" lang="ja-JP" altLang="en-US" sz="3200" dirty="0"/>
              <a:t>開発中は</a:t>
            </a:r>
            <a:r>
              <a:rPr lang="ja-JP" altLang="en-US" sz="3200" dirty="0"/>
              <a:t>研修期間中に読んだ「リーダブルコード」</a:t>
            </a:r>
            <a:r>
              <a:rPr kumimoji="1" lang="ja-JP" altLang="en-US" sz="3200" dirty="0"/>
              <a:t>容を意識してコードを書いた。自分なりに読みやすいコードだと思っていたが、ほかの人には冗長に見える場合があった。</a:t>
            </a:r>
            <a:endParaRPr kumimoji="1" lang="en-US" altLang="ja-JP" sz="3200" dirty="0"/>
          </a:p>
          <a:p>
            <a:pPr marL="0" indent="0">
              <a:buNone/>
            </a:pPr>
            <a:endParaRPr kumimoji="1" lang="en-US" altLang="ja-JP" sz="3200" dirty="0"/>
          </a:p>
          <a:p>
            <a:pPr marL="0" indent="0">
              <a:buNone/>
            </a:pPr>
            <a:r>
              <a:rPr kumimoji="1" lang="ja-JP" altLang="en-US" sz="3200" dirty="0"/>
              <a:t>チーム開発の場合自分一人で解決するのではなく、周りに質問したり、自分の考えや知識を共有したりとチームであることを考えて行動することが必要だと感じた。</a:t>
            </a:r>
            <a:endParaRPr kumimoji="1" lang="en-US" altLang="ja-JP" sz="3200" dirty="0"/>
          </a:p>
          <a:p>
            <a:endParaRPr kumimoji="1" lang="en-US" altLang="ja-JP" dirty="0"/>
          </a:p>
          <a:p>
            <a:endParaRPr kumimoji="1" lang="en-US" altLang="ja-JP" dirty="0"/>
          </a:p>
          <a:p>
            <a:endParaRPr lang="en-US" altLang="ja-JP" dirty="0"/>
          </a:p>
          <a:p>
            <a:endParaRPr kumimoji="1" lang="ja-JP" altLang="en-US" dirty="0"/>
          </a:p>
        </p:txBody>
      </p:sp>
      <p:cxnSp>
        <p:nvCxnSpPr>
          <p:cNvPr id="6" name="直線コネクタ 5">
            <a:extLst>
              <a:ext uri="{FF2B5EF4-FFF2-40B4-BE49-F238E27FC236}">
                <a16:creationId xmlns:a16="http://schemas.microsoft.com/office/drawing/2014/main" id="{4E11FD12-737C-27DA-B9B4-F0F235DEB802}"/>
              </a:ext>
            </a:extLst>
          </p:cNvPr>
          <p:cNvCxnSpPr>
            <a:cxnSpLocks/>
          </p:cNvCxnSpPr>
          <p:nvPr/>
        </p:nvCxnSpPr>
        <p:spPr>
          <a:xfrm>
            <a:off x="538602" y="2051280"/>
            <a:ext cx="8803702"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49276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FDDE93D-4ABC-5B4A-7FC4-71C0EF69EE6C}"/>
              </a:ext>
            </a:extLst>
          </p:cNvPr>
          <p:cNvSpPr>
            <a:spLocks noGrp="1"/>
          </p:cNvSpPr>
          <p:nvPr>
            <p:ph type="title"/>
          </p:nvPr>
        </p:nvSpPr>
        <p:spPr>
          <a:xfrm>
            <a:off x="838200" y="924560"/>
            <a:ext cx="10515600" cy="1325562"/>
          </a:xfrm>
        </p:spPr>
        <p:txBody>
          <a:bodyPr/>
          <a:lstStyle/>
          <a:p>
            <a:r>
              <a:rPr kumimoji="1" lang="ja-JP" altLang="en-US" dirty="0">
                <a:solidFill>
                  <a:schemeClr val="accent5">
                    <a:lumMod val="75000"/>
                  </a:schemeClr>
                </a:solidFill>
              </a:rPr>
              <a:t>今後勉強したいこと</a:t>
            </a:r>
          </a:p>
        </p:txBody>
      </p:sp>
      <p:sp>
        <p:nvSpPr>
          <p:cNvPr id="3" name="コンテンツ プレースホルダー 2">
            <a:extLst>
              <a:ext uri="{FF2B5EF4-FFF2-40B4-BE49-F238E27FC236}">
                <a16:creationId xmlns:a16="http://schemas.microsoft.com/office/drawing/2014/main" id="{E3A5B611-433C-A159-56E9-78BEDE7C75BA}"/>
              </a:ext>
            </a:extLst>
          </p:cNvPr>
          <p:cNvSpPr>
            <a:spLocks noGrp="1"/>
          </p:cNvSpPr>
          <p:nvPr>
            <p:ph idx="1"/>
          </p:nvPr>
        </p:nvSpPr>
        <p:spPr>
          <a:xfrm>
            <a:off x="1308100" y="2638425"/>
            <a:ext cx="9334500" cy="1933575"/>
          </a:xfrm>
        </p:spPr>
        <p:txBody>
          <a:bodyPr>
            <a:noAutofit/>
          </a:bodyPr>
          <a:lstStyle/>
          <a:p>
            <a:r>
              <a:rPr kumimoji="1" lang="ja-JP" altLang="en-US" dirty="0"/>
              <a:t>今後の開発では今回の研修で学んだ</a:t>
            </a:r>
            <a:r>
              <a:rPr kumimoji="1" lang="en-US" altLang="ja-JP" dirty="0"/>
              <a:t>UML</a:t>
            </a:r>
            <a:r>
              <a:rPr kumimoji="1" lang="ja-JP" altLang="en-US" dirty="0"/>
              <a:t>図、テストケース、コマンド等</a:t>
            </a:r>
            <a:r>
              <a:rPr lang="ja-JP" altLang="en-US" dirty="0"/>
              <a:t>どの開発にも共通している</a:t>
            </a:r>
            <a:r>
              <a:rPr kumimoji="1" lang="ja-JP" altLang="en-US" dirty="0"/>
              <a:t>こと</a:t>
            </a:r>
            <a:r>
              <a:rPr lang="ja-JP" altLang="en-US" dirty="0"/>
              <a:t>を</a:t>
            </a:r>
            <a:r>
              <a:rPr kumimoji="1" lang="ja-JP" altLang="en-US" dirty="0"/>
              <a:t>生かしつつ、開発言語やアーキテクチャ、チームごとの</a:t>
            </a:r>
            <a:r>
              <a:rPr lang="ja-JP" altLang="en-US" dirty="0"/>
              <a:t>コードの書き方など違いがあるものを、今回の講義との違いを意識しながら学んでいきたいと思う。</a:t>
            </a:r>
            <a:endParaRPr kumimoji="1" lang="ja-JP" altLang="en-US" dirty="0"/>
          </a:p>
        </p:txBody>
      </p:sp>
      <p:cxnSp>
        <p:nvCxnSpPr>
          <p:cNvPr id="5" name="直線コネクタ 4">
            <a:extLst>
              <a:ext uri="{FF2B5EF4-FFF2-40B4-BE49-F238E27FC236}">
                <a16:creationId xmlns:a16="http://schemas.microsoft.com/office/drawing/2014/main" id="{ED79B061-CE82-24DE-57F6-3AA83CE9385B}"/>
              </a:ext>
            </a:extLst>
          </p:cNvPr>
          <p:cNvCxnSpPr/>
          <p:nvPr/>
        </p:nvCxnSpPr>
        <p:spPr>
          <a:xfrm>
            <a:off x="1003300" y="1981200"/>
            <a:ext cx="464820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テキスト ボックス 5">
            <a:extLst>
              <a:ext uri="{FF2B5EF4-FFF2-40B4-BE49-F238E27FC236}">
                <a16:creationId xmlns:a16="http://schemas.microsoft.com/office/drawing/2014/main" id="{025503A6-753A-4AC5-A705-E384F98EDCA5}"/>
              </a:ext>
            </a:extLst>
          </p:cNvPr>
          <p:cNvSpPr txBox="1"/>
          <p:nvPr/>
        </p:nvSpPr>
        <p:spPr>
          <a:xfrm>
            <a:off x="11163300" y="6365240"/>
            <a:ext cx="1409700" cy="369332"/>
          </a:xfrm>
          <a:prstGeom prst="rect">
            <a:avLst/>
          </a:prstGeom>
          <a:noFill/>
        </p:spPr>
        <p:txBody>
          <a:bodyPr wrap="square" rtlCol="0">
            <a:spAutoFit/>
          </a:bodyPr>
          <a:lstStyle/>
          <a:p>
            <a:r>
              <a:rPr kumimoji="1" lang="ja-JP" altLang="en-US" dirty="0"/>
              <a:t>おわり</a:t>
            </a:r>
          </a:p>
        </p:txBody>
      </p:sp>
    </p:spTree>
    <p:extLst>
      <p:ext uri="{BB962C8B-B14F-4D97-AF65-F5344CB8AC3E}">
        <p14:creationId xmlns:p14="http://schemas.microsoft.com/office/powerpoint/2010/main" val="4180490711"/>
      </p:ext>
    </p:extLst>
  </p:cSld>
  <p:clrMapOvr>
    <a:masterClrMapping/>
  </p:clrMapOvr>
</p:sld>
</file>

<file path=ppt/theme/theme1.xml><?xml version="1.0" encoding="utf-8"?>
<a:theme xmlns:a="http://schemas.openxmlformats.org/drawingml/2006/main" name="HDOfficeLightV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F53224CB4AB7E84C876E95102DDD2B7D" ma:contentTypeVersion="4" ma:contentTypeDescription="新しいドキュメントを作成します。" ma:contentTypeScope="" ma:versionID="341b165d7395d9e1ee8f0503b074b01e">
  <xsd:schema xmlns:xsd="http://www.w3.org/2001/XMLSchema" xmlns:xs="http://www.w3.org/2001/XMLSchema" xmlns:p="http://schemas.microsoft.com/office/2006/metadata/properties" xmlns:ns3="35ae0af6-260d-49f6-9ae2-0fef1c1b6caa" targetNamespace="http://schemas.microsoft.com/office/2006/metadata/properties" ma:root="true" ma:fieldsID="5f4d16edb58affd9be284592f237857a" ns3:_="">
    <xsd:import namespace="35ae0af6-260d-49f6-9ae2-0fef1c1b6caa"/>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5ae0af6-260d-49f6-9ae2-0fef1c1b6caa"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A5E6C6F-0061-46AB-B0DB-88D4BEBCB1F8}">
  <ds:schemaRefs>
    <ds:schemaRef ds:uri="http://schemas.microsoft.com/sharepoint/v3/contenttype/forms"/>
  </ds:schemaRefs>
</ds:datastoreItem>
</file>

<file path=customXml/itemProps2.xml><?xml version="1.0" encoding="utf-8"?>
<ds:datastoreItem xmlns:ds="http://schemas.openxmlformats.org/officeDocument/2006/customXml" ds:itemID="{AD229709-AD99-4BB5-B458-D044ACAEFC7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5ae0af6-260d-49f6-9ae2-0fef1c1b6ca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6E566DF-7E5E-4736-94D9-571A8A724DB1}">
  <ds:schemaRefs>
    <ds:schemaRef ds:uri="http://schemas.microsoft.com/office/2006/documentManagement/types"/>
    <ds:schemaRef ds:uri="http://schemas.microsoft.com/office/2006/metadata/properties"/>
    <ds:schemaRef ds:uri="http://www.w3.org/XML/1998/namespace"/>
    <ds:schemaRef ds:uri="http://purl.org/dc/elements/1.1/"/>
    <ds:schemaRef ds:uri="http://purl.org/dc/terms/"/>
    <ds:schemaRef ds:uri="http://schemas.microsoft.com/office/infopath/2007/PartnerControls"/>
    <ds:schemaRef ds:uri="35ae0af6-260d-49f6-9ae2-0fef1c1b6caa"/>
    <ds:schemaRef ds:uri="http://schemas.openxmlformats.org/package/2006/metadata/core-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TM02900720[[fn=インテグラル]]</Template>
  <TotalTime>439</TotalTime>
  <Words>1126</Words>
  <Application>Microsoft Office PowerPoint</Application>
  <PresentationFormat>ワイド画面</PresentationFormat>
  <Paragraphs>176</Paragraphs>
  <Slides>22</Slides>
  <Notes>2</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22</vt:i4>
      </vt:variant>
    </vt:vector>
  </HeadingPairs>
  <TitlesOfParts>
    <vt:vector size="29" baseType="lpstr">
      <vt:lpstr>Meiryo UI</vt:lpstr>
      <vt:lpstr>游ゴシック</vt:lpstr>
      <vt:lpstr>Arial</vt:lpstr>
      <vt:lpstr>Calibri</vt:lpstr>
      <vt:lpstr>Calibri Light</vt:lpstr>
      <vt:lpstr>Wingdings 2</vt:lpstr>
      <vt:lpstr>HDOfficeLightV0</vt:lpstr>
      <vt:lpstr>C#研修 発表資料</vt:lpstr>
      <vt:lpstr>開発スケジュールの報告</vt:lpstr>
      <vt:lpstr>PowerPoint プレゼンテーション</vt:lpstr>
      <vt:lpstr>成果物の概要</vt:lpstr>
      <vt:lpstr>従業員登録</vt:lpstr>
      <vt:lpstr>PowerPoint プレゼンテーション</vt:lpstr>
      <vt:lpstr>部署登録</vt:lpstr>
      <vt:lpstr>セールスポイント</vt:lpstr>
      <vt:lpstr>従業員一覧</vt:lpstr>
      <vt:lpstr>部署一覧</vt:lpstr>
      <vt:lpstr>従業員削除機能</vt:lpstr>
      <vt:lpstr>PowerPoint プレゼンテーション</vt:lpstr>
      <vt:lpstr>部署削除</vt:lpstr>
      <vt:lpstr>セールスポイント</vt:lpstr>
      <vt:lpstr>追加で行った機能</vt:lpstr>
      <vt:lpstr>研修前と比べ成長した点、反省点</vt:lpstr>
      <vt:lpstr>研修を通じて困難を感じたこと</vt:lpstr>
      <vt:lpstr>1. Varを使用するかどうか</vt:lpstr>
      <vt:lpstr>2. 名前付き引数を使用するかどうか</vt:lpstr>
      <vt:lpstr>3. Nullの場合の処理</vt:lpstr>
      <vt:lpstr>自分が感じた技術者として必要な要素</vt:lpstr>
      <vt:lpstr>今後勉強したいこと</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opnewemp010</dc:creator>
  <cp:lastModifiedBy>opnewemp010</cp:lastModifiedBy>
  <cp:revision>7</cp:revision>
  <dcterms:created xsi:type="dcterms:W3CDTF">2026-05-28T00:30:20Z</dcterms:created>
  <dcterms:modified xsi:type="dcterms:W3CDTF">2026-05-28T07:53:42Z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0x010100F53224CB4AB7E84C876E95102DDD2B7D</vt:lpwstr>
  </property>
</Properties>
</file>